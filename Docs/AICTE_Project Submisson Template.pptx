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_rels/presentation.xml.rels" ContentType="application/vnd.openxmlformats-package.relationships+xml"/>
  <Override PartName="/ppt/media/image1.jpeg" ContentType="image/jpeg"/>
  <Override PartName="/ppt/media/image6.png" ContentType="image/png"/>
  <Override PartName="/ppt/media/image2.png" ContentType="image/png"/>
  <Override PartName="/ppt/media/image3.png" ContentType="image/png"/>
  <Override PartName="/ppt/media/image4.png" ContentType="image/png"/>
  <Override PartName="/ppt/media/image5.png" ContentType="image/png"/>
  <Override PartName="/ppt/media/image7.png" ContentType="image/png"/>
  <Override PartName="/ppt/media/image8.png" ContentType="image/png"/>
  <Override PartName="/ppt/media/image9.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BC779330-4114-45CB-8A7E-1FD869165C89}"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C9887221-56CE-4C24-88CB-0096173AB182}"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1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F5E3D66D-11B1-47F9-B257-424EA4FDED6D}"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4"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C36EBF81-7FD8-45E8-A7A8-6E999066AB65}"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BF32A914-15AA-4FEE-93A0-6B37A3D1D4DA}"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3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36B599A8-AD46-42B8-BDC1-B231A3EA0F32}" type="slidenum">
              <a:t>&lt;#&gt;</a:t>
            </a:fld>
          </a:p>
        </p:txBody>
      </p:sp>
      <p:sp>
        <p:nvSpPr>
          <p:cNvPr id="5" name="PlaceHolder 4"/>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64C70970-0F72-4B64-90BA-FA66CE5A3764}"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CB513B37-DB00-49AF-849A-5E914F729EAF}"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812E4958-0343-4023-8234-A27C7CB279B8}"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CDD15094-7F29-427D-881D-3030A7A35A56}" type="slidenum">
              <a:t>&lt;#&gt;</a:t>
            </a:fld>
          </a:p>
        </p:txBody>
      </p:sp>
      <p:sp>
        <p:nvSpPr>
          <p:cNvPr id="4" name="PlaceHolder 3"/>
          <p:cNvSpPr>
            <a:spLocks noGrp="1"/>
          </p:cNvSpPr>
          <p:nvPr>
            <p:ph type="dt" idx="28"/>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rmAutofit/>
          </a:bodyPr>
          <a:p>
            <a:pPr indent="0">
              <a:buNone/>
            </a:pPr>
            <a:r>
              <a:rPr b="0" lang="en-US" sz="6000" spc="-1" strike="noStrike">
                <a:solidFill>
                  <a:srgbClr val="000000"/>
                </a:solidFill>
                <a:latin typeface="Arial"/>
              </a:rPr>
              <a:t>Click to edit the title text format</a:t>
            </a:r>
            <a:endParaRPr b="0" lang="en-US" sz="6000" spc="-1" strike="noStrike">
              <a:solidFill>
                <a:srgbClr val="000000"/>
              </a:solidFill>
              <a:latin typeface="Arial"/>
            </a:endParaRPr>
          </a:p>
        </p:txBody>
      </p:sp>
      <p:sp>
        <p:nvSpPr>
          <p:cNvPr id="1"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rmAutofit fontScale="37485"/>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2" name="PlaceHolder 3"/>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5"/>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9D4605DC-3D2C-49FF-B119-19ED4A054BBE}"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rot="5400000">
            <a:off x="7133400" y="1956240"/>
            <a:ext cx="5811480" cy="262872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6" name="PlaceHolder 2"/>
          <p:cNvSpPr>
            <a:spLocks noGrp="1"/>
          </p:cNvSpPr>
          <p:nvPr>
            <p:ph type="body"/>
          </p:nvPr>
        </p:nvSpPr>
        <p:spPr>
          <a:xfrm rot="5400000">
            <a:off x="1800000" y="-596160"/>
            <a:ext cx="5811480" cy="773388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7"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7D2CB55C-4798-49A9-B972-3BD9FCCE9128}"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1"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12"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70B9178B-8CED-4306-9FE5-E80D7631A5A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8"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rmAutofit fontScale="90336"/>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19"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rmAutofit fontScale="90336"/>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20" name="PlaceHolder 4"/>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1" name="PlaceHolder 5"/>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2" name="PlaceHolder 6"/>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6365C3C1-A3BE-4D17-B901-253897C78575}"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7"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rmAutofit fontScale="12495"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28"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rmAutofit fontScale="81053"/>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29"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rmAutofit fontScale="12495"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30"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rmAutofit fontScale="81053"/>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31" name="PlaceHolder 6"/>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2" name="PlaceHolder 7"/>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8"/>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10DF3F02-6B26-4F80-92DB-22253918D6E6}"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a:t>
            </a:r>
            <a:r>
              <a:rPr b="0" lang="en-US" sz="4400" spc="-1" strike="noStrike">
                <a:solidFill>
                  <a:srgbClr val="000000"/>
                </a:solidFill>
                <a:latin typeface="Arial"/>
              </a:rPr>
              <a:t>format</a:t>
            </a:r>
            <a:endParaRPr b="0" lang="en-US" sz="4400" spc="-1" strike="noStrike">
              <a:solidFill>
                <a:srgbClr val="000000"/>
              </a:solidFill>
              <a:latin typeface="Arial"/>
            </a:endParaRPr>
          </a:p>
        </p:txBody>
      </p:sp>
      <p:sp>
        <p:nvSpPr>
          <p:cNvPr id="35" name="PlaceHolder 2"/>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6" name="PlaceHolder 3"/>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 name="PlaceHolder 4"/>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6DB6136F-B5C6-4EF7-B91D-3DAC781A11AD}"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0" name="PlaceHolder 2"/>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1" name="PlaceHolder 3"/>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49A56E21-3F96-41F3-B7B1-C9BBA10AEEDA}"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43"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rmAutofit fontScale="96865"/>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44"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45" name="PlaceHolder 4"/>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6" name="PlaceHolder 5"/>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7" name="PlaceHolder 6"/>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CE3F0FD8-AA47-45A5-82B6-380E420C66AB}"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51" name="PlaceHolder 4"/>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2" name="PlaceHolder 5"/>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6"/>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C471CCEC-AB21-4657-A5E8-AC5F532176BE}"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5" name="PlaceHolder 2"/>
          <p:cNvSpPr>
            <a:spLocks noGrp="1"/>
          </p:cNvSpPr>
          <p:nvPr>
            <p:ph type="body"/>
          </p:nvPr>
        </p:nvSpPr>
        <p:spPr>
          <a:xfrm rot="5400000">
            <a:off x="3920400" y="-1256400"/>
            <a:ext cx="4350960" cy="10515240"/>
          </a:xfrm>
          <a:prstGeom prst="rect">
            <a:avLst/>
          </a:prstGeom>
          <a:noFill/>
          <a:ln w="0">
            <a:noFill/>
          </a:ln>
        </p:spPr>
        <p:txBody>
          <a:bodyPr lIns="91440" rIns="91440" tIns="45720" bIns="45720" anchor="t">
            <a:normAutofit fontScale="74983"/>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56" name="PlaceHolder 3"/>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7" name="PlaceHolder 4"/>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8" name="PlaceHolder 5"/>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0C43E1D3-87F0-4DC8-8BAA-F99782B80C5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rmAutofit/>
          </a:bodyPr>
          <a:p>
            <a:pPr indent="0" algn="ctr">
              <a:lnSpc>
                <a:spcPct val="90000"/>
              </a:lnSpc>
              <a:buNone/>
              <a:tabLst>
                <a:tab algn="l" pos="0"/>
              </a:tabLst>
            </a:pPr>
            <a:r>
              <a:rPr b="1" lang="en-US" sz="6600" spc="-1" strike="noStrike">
                <a:solidFill>
                  <a:schemeClr val="dk1"/>
                </a:solidFill>
                <a:latin typeface="Calibri"/>
                <a:ea typeface="Calibri"/>
              </a:rPr>
              <a:t>IBM University Engagement Project Submission</a:t>
            </a:r>
            <a:br>
              <a:rPr sz="6000"/>
            </a:br>
            <a:endParaRPr b="0" lang="en-US" sz="6600" spc="-1" strike="noStrike">
              <a:solidFill>
                <a:srgbClr val="000000"/>
              </a:solidFill>
              <a:latin typeface="Arial"/>
            </a:endParaRPr>
          </a:p>
        </p:txBody>
      </p:sp>
      <p:sp>
        <p:nvSpPr>
          <p:cNvPr id="60" name="PlaceHolder 2"/>
          <p:cNvSpPr>
            <a:spLocks noGrp="1"/>
          </p:cNvSpPr>
          <p:nvPr>
            <p:ph/>
          </p:nvPr>
        </p:nvSpPr>
        <p:spPr>
          <a:xfrm>
            <a:off x="1014840" y="3903840"/>
            <a:ext cx="10515240" cy="1499760"/>
          </a:xfrm>
          <a:prstGeom prst="rect">
            <a:avLst/>
          </a:prstGeom>
          <a:noFill/>
          <a:ln w="0">
            <a:noFill/>
          </a:ln>
        </p:spPr>
        <p:txBody>
          <a:bodyPr lIns="91440" rIns="91440" tIns="45720" bIns="45720" anchor="t">
            <a:normAutofit/>
          </a:bodyPr>
          <a:p>
            <a:pPr marL="457200" indent="-228600" algn="ctr">
              <a:lnSpc>
                <a:spcPct val="90000"/>
              </a:lnSpc>
              <a:spcBef>
                <a:spcPts val="1001"/>
              </a:spcBef>
              <a:buNone/>
              <a:tabLst>
                <a:tab algn="l" pos="0"/>
              </a:tabLst>
            </a:pPr>
            <a:r>
              <a:rPr b="1" i="1" lang="en-US" sz="2400" spc="-1" strike="noStrike">
                <a:solidFill>
                  <a:schemeClr val="dk1"/>
                </a:solidFill>
                <a:latin typeface="Calibri"/>
                <a:ea typeface="Calibri"/>
              </a:rPr>
              <a:t>“</a:t>
            </a:r>
            <a:r>
              <a:rPr b="1" i="1" lang="en-US" sz="2400" spc="-1" strike="noStrike">
                <a:solidFill>
                  <a:schemeClr val="dk1"/>
                </a:solidFill>
                <a:latin typeface="Calibri"/>
                <a:ea typeface="Calibri"/>
              </a:rPr>
              <a:t>Building ResQAI – An Agentic AI Disaster Response &amp; Rescue Coordination Platform with IBM Granite and IBM BoB”</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Google Shape;84;p2"/>
          <p:cNvSpPr/>
          <p:nvPr/>
        </p:nvSpPr>
        <p:spPr>
          <a:xfrm>
            <a:off x="690480" y="4425480"/>
            <a:ext cx="10795320" cy="198720"/>
          </a:xfrm>
          <a:prstGeom prst="rect">
            <a:avLst/>
          </a:prstGeom>
          <a:noFill/>
          <a:ln w="0">
            <a:noFill/>
          </a:ln>
        </p:spPr>
        <p:style>
          <a:lnRef idx="0"/>
          <a:fillRef idx="0"/>
          <a:effectRef idx="0"/>
          <a:fontRef idx="minor"/>
        </p:style>
        <p:txBody>
          <a:bodyPr lIns="0" rIns="0" tIns="0" bIns="0" anchor="t">
            <a:noAutofit/>
          </a:bodyPr>
          <a:p>
            <a:pPr>
              <a:lnSpc>
                <a:spcPct val="160000"/>
              </a:lnSpc>
              <a:tabLst>
                <a:tab algn="l" pos="0"/>
              </a:tabLst>
            </a:pPr>
            <a:endParaRPr b="0" lang="en-US" sz="1400" spc="-1" strike="noStrike">
              <a:solidFill>
                <a:srgbClr val="000000"/>
              </a:solidFill>
              <a:latin typeface="Arial"/>
            </a:endParaRPr>
          </a:p>
        </p:txBody>
      </p:sp>
      <p:sp>
        <p:nvSpPr>
          <p:cNvPr id="62" name="Google Shape;85;p2"/>
          <p:cNvSpPr/>
          <p:nvPr/>
        </p:nvSpPr>
        <p:spPr>
          <a:xfrm>
            <a:off x="1102320" y="1174680"/>
            <a:ext cx="7426080" cy="451080"/>
          </a:xfrm>
          <a:prstGeom prst="rect">
            <a:avLst/>
          </a:prstGeom>
          <a:noFill/>
          <a:ln w="0">
            <a:noFill/>
          </a:ln>
        </p:spPr>
        <p:style>
          <a:lnRef idx="0"/>
          <a:fillRef idx="0"/>
          <a:effectRef idx="0"/>
          <a:fontRef idx="minor"/>
        </p:style>
        <p:txBody>
          <a:bodyPr anchor="ctr">
            <a:noAutofit/>
          </a:bodyPr>
          <a:p>
            <a:pPr algn="ctr">
              <a:lnSpc>
                <a:spcPct val="90000"/>
              </a:lnSpc>
              <a:tabLst>
                <a:tab algn="l" pos="0"/>
              </a:tabLst>
            </a:pPr>
            <a:endParaRPr b="0" lang="en-US" sz="1400" spc="-1" strike="noStrike">
              <a:solidFill>
                <a:srgbClr val="000000"/>
              </a:solidFill>
              <a:latin typeface="Arial"/>
            </a:endParaRPr>
          </a:p>
        </p:txBody>
      </p:sp>
      <p:graphicFrame>
        <p:nvGraphicFramePr>
          <p:cNvPr id="63" name="Google Shape;86;p2"/>
          <p:cNvGraphicFramePr/>
          <p:nvPr/>
        </p:nvGraphicFramePr>
        <p:xfrm>
          <a:off x="1299240" y="2600280"/>
          <a:ext cx="9394560" cy="2166840"/>
        </p:xfrm>
        <a:graphic>
          <a:graphicData uri="http://schemas.openxmlformats.org/drawingml/2006/table">
            <a:tbl>
              <a:tblPr/>
              <a:tblGrid>
                <a:gridCol w="2064600"/>
                <a:gridCol w="2443320"/>
                <a:gridCol w="2443320"/>
                <a:gridCol w="2443320"/>
              </a:tblGrid>
              <a:tr h="973080">
                <a:tc>
                  <a:txBody>
                    <a:bodyPr anchor="ctr">
                      <a:noAutofit/>
                    </a:bodyPr>
                    <a:p>
                      <a:pPr algn="ctr">
                        <a:lnSpc>
                          <a:spcPct val="100000"/>
                        </a:lnSpc>
                        <a:tabLst>
                          <a:tab algn="l" pos="0"/>
                        </a:tabLst>
                      </a:pPr>
                      <a:r>
                        <a:rPr b="0" lang="en-US" sz="1800" spc="-1" strike="noStrike">
                          <a:solidFill>
                            <a:srgbClr val="000000"/>
                          </a:solidFill>
                          <a:latin typeface="Arial"/>
                          <a:ea typeface="Arial"/>
                        </a:rPr>
                        <a:t>Student Name</a:t>
                      </a:r>
                      <a:endParaRPr b="0" lang="en-US" sz="18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b="0" lang="en-US" sz="1800" spc="-1" strike="noStrike">
                          <a:solidFill>
                            <a:srgbClr val="000000"/>
                          </a:solidFill>
                          <a:latin typeface="Arial"/>
                          <a:ea typeface="Arial"/>
                        </a:rPr>
                        <a:t>Recent Passport Photo</a:t>
                      </a:r>
                      <a:endParaRPr b="0" lang="en-US" sz="18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b="0" lang="en-US" sz="1800" spc="-1" strike="noStrike">
                          <a:solidFill>
                            <a:srgbClr val="000000"/>
                          </a:solidFill>
                          <a:latin typeface="Arial"/>
                          <a:ea typeface="Arial"/>
                        </a:rPr>
                        <a:t>Email ID </a:t>
                      </a:r>
                      <a:endParaRPr b="0" lang="en-US" sz="18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b="0" lang="en-US" sz="1800" spc="-1" strike="noStrike">
                          <a:solidFill>
                            <a:srgbClr val="000000"/>
                          </a:solidFill>
                          <a:latin typeface="Arial"/>
                          <a:ea typeface="Arial"/>
                        </a:rPr>
                        <a:t>Mobile number</a:t>
                      </a:r>
                      <a:endParaRPr b="0" lang="en-US" sz="1800" spc="-1" strike="noStrike">
                        <a:solidFill>
                          <a:srgbClr val="ffffff"/>
                        </a:solidFill>
                        <a:latin typeface="Arial"/>
                      </a:endParaRPr>
                    </a:p>
                    <a:p>
                      <a:pPr algn="ctr">
                        <a:lnSpc>
                          <a:spcPct val="100000"/>
                        </a:lnSpc>
                        <a:tabLst>
                          <a:tab algn="l" pos="0"/>
                        </a:tabLst>
                      </a:pPr>
                      <a:r>
                        <a:rPr b="0" lang="en-US" sz="1800" spc="-1" strike="noStrike">
                          <a:solidFill>
                            <a:srgbClr val="000000"/>
                          </a:solidFill>
                          <a:latin typeface="Arial"/>
                          <a:ea typeface="Arial"/>
                        </a:rPr>
                        <a:t>[WhatsApp] </a:t>
                      </a:r>
                      <a:endParaRPr b="0" lang="en-US" sz="18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r>
              <a:tr h="1193760">
                <a:tc>
                  <a:txBody>
                    <a:bodyPr anchor="t">
                      <a:noAutofit/>
                    </a:bodyPr>
                    <a:p>
                      <a:pPr>
                        <a:lnSpc>
                          <a:spcPct val="100000"/>
                        </a:lnSpc>
                        <a:tabLst>
                          <a:tab algn="l" pos="0"/>
                        </a:tabLst>
                      </a:pPr>
                      <a:r>
                        <a:rPr b="0" lang="en-US" sz="1400" spc="-1" strike="noStrike">
                          <a:solidFill>
                            <a:srgbClr val="000000"/>
                          </a:solidFill>
                          <a:latin typeface="Arial"/>
                          <a:ea typeface="Arial"/>
                        </a:rPr>
                        <a:t>Gayatri Botcha</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tabLst>
                          <a:tab algn="l" pos="0"/>
                        </a:tabLst>
                      </a:pPr>
                      <a:r>
                        <a:rPr b="0" lang="en-US" sz="1400" spc="-1" strike="noStrike">
                          <a:solidFill>
                            <a:srgbClr val="000000"/>
                          </a:solidFill>
                          <a:latin typeface="Arial"/>
                          <a:ea typeface="Arial"/>
                        </a:rPr>
                        <a:t>gayatri.008b@gmail.com</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tabLst>
                          <a:tab algn="l" pos="0"/>
                        </a:tabLst>
                      </a:pPr>
                      <a:r>
                        <a:rPr b="0" lang="en-US" sz="1400" spc="-1" strike="noStrike">
                          <a:solidFill>
                            <a:srgbClr val="000000"/>
                          </a:solidFill>
                          <a:latin typeface="Arial"/>
                          <a:ea typeface="Arial"/>
                        </a:rPr>
                        <a:t>9346945405</a:t>
                      </a:r>
                      <a:endParaRPr b="0" lang="en-US" sz="14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r>
            </a:tbl>
          </a:graphicData>
        </a:graphic>
      </p:graphicFrame>
      <p:sp>
        <p:nvSpPr>
          <p:cNvPr id="64" name="Google Shape;88;p2"/>
          <p:cNvSpPr/>
          <p:nvPr/>
        </p:nvSpPr>
        <p:spPr>
          <a:xfrm>
            <a:off x="1206000" y="1460880"/>
            <a:ext cx="1027980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2400" spc="-1" strike="noStrike">
                <a:solidFill>
                  <a:srgbClr val="000000"/>
                </a:solidFill>
                <a:latin typeface="Arial"/>
                <a:ea typeface="Arial"/>
              </a:rPr>
              <a:t>Domain of  Project – Disaster Management</a:t>
            </a:r>
            <a:endParaRPr b="0" lang="en-US" sz="2400" spc="-1" strike="noStrike">
              <a:solidFill>
                <a:srgbClr val="000000"/>
              </a:solidFill>
              <a:latin typeface="Arial"/>
            </a:endParaRPr>
          </a:p>
        </p:txBody>
      </p:sp>
      <p:sp>
        <p:nvSpPr>
          <p:cNvPr id="65" name="Google Shape;89;p2"/>
          <p:cNvSpPr/>
          <p:nvPr/>
        </p:nvSpPr>
        <p:spPr>
          <a:xfrm>
            <a:off x="1206000" y="551880"/>
            <a:ext cx="9580680" cy="8226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2400" spc="-1" strike="noStrike">
                <a:solidFill>
                  <a:srgbClr val="000000"/>
                </a:solidFill>
                <a:latin typeface="Arial"/>
                <a:ea typeface="Arial"/>
              </a:rPr>
              <a:t>Project Title – ResQAI: AI-Powered Disaster Response &amp; Rescue Coordination Platform</a:t>
            </a:r>
            <a:endParaRPr b="0" lang="en-US" sz="2400" spc="-1" strike="noStrike">
              <a:solidFill>
                <a:srgbClr val="000000"/>
              </a:solidFill>
              <a:latin typeface="Arial"/>
            </a:endParaRPr>
          </a:p>
        </p:txBody>
      </p:sp>
      <p:sp>
        <p:nvSpPr>
          <p:cNvPr id="66" name="Google Shape;90;p2"/>
          <p:cNvSpPr/>
          <p:nvPr/>
        </p:nvSpPr>
        <p:spPr>
          <a:xfrm>
            <a:off x="1211040" y="5210640"/>
            <a:ext cx="6456240" cy="16156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2000" spc="-1" strike="noStrike">
                <a:solidFill>
                  <a:srgbClr val="ff0000"/>
                </a:solidFill>
                <a:latin typeface="Arial"/>
                <a:ea typeface="Arial"/>
              </a:rPr>
              <a:t>Recommended font style and size:</a:t>
            </a:r>
            <a:br>
              <a:rPr sz="2000"/>
            </a:br>
            <a:br>
              <a:rPr sz="2000"/>
            </a:br>
            <a:r>
              <a:rPr b="0" lang="en-US" sz="2000" spc="-1" strike="noStrike">
                <a:solidFill>
                  <a:srgbClr val="ff0000"/>
                </a:solidFill>
                <a:latin typeface="Arial"/>
                <a:ea typeface="Arial"/>
              </a:rPr>
              <a:t>Font Style: Arial</a:t>
            </a:r>
            <a:br>
              <a:rPr sz="2000"/>
            </a:br>
            <a:r>
              <a:rPr b="0" lang="en-US" sz="2000" spc="-1" strike="noStrike">
                <a:solidFill>
                  <a:srgbClr val="ff0000"/>
                </a:solidFill>
                <a:latin typeface="Arial"/>
                <a:ea typeface="Arial"/>
              </a:rPr>
              <a:t>Font Size (Heading): 28</a:t>
            </a:r>
            <a:endParaRPr b="0" lang="en-US" sz="2000" spc="-1" strike="noStrike">
              <a:solidFill>
                <a:srgbClr val="000000"/>
              </a:solidFill>
              <a:latin typeface="Arial"/>
            </a:endParaRPr>
          </a:p>
          <a:p>
            <a:pPr>
              <a:lnSpc>
                <a:spcPct val="100000"/>
              </a:lnSpc>
              <a:tabLst>
                <a:tab algn="l" pos="0"/>
              </a:tabLst>
            </a:pPr>
            <a:r>
              <a:rPr b="0" lang="en-US" sz="2000" spc="-1" strike="noStrike">
                <a:solidFill>
                  <a:srgbClr val="ff0000"/>
                </a:solidFill>
                <a:latin typeface="Arial"/>
                <a:ea typeface="Arial"/>
              </a:rPr>
              <a:t>Font Size (Content): 20</a:t>
            </a:r>
            <a:endParaRPr b="0" lang="en-US" sz="2000" spc="-1" strike="noStrike">
              <a:solidFill>
                <a:srgbClr val="000000"/>
              </a:solidFill>
              <a:latin typeface="Arial"/>
            </a:endParaRPr>
          </a:p>
        </p:txBody>
      </p:sp>
      <p:pic>
        <p:nvPicPr>
          <p:cNvPr id="67" name="" descr=""/>
          <p:cNvPicPr/>
          <p:nvPr/>
        </p:nvPicPr>
        <p:blipFill>
          <a:blip r:embed="rId1"/>
          <a:stretch/>
        </p:blipFill>
        <p:spPr>
          <a:xfrm>
            <a:off x="3907080" y="3429000"/>
            <a:ext cx="1579320" cy="133776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Google Shape;95;p34"/>
          <p:cNvSpPr/>
          <p:nvPr/>
        </p:nvSpPr>
        <p:spPr>
          <a:xfrm>
            <a:off x="576000" y="1234440"/>
            <a:ext cx="10606680" cy="37202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400" spc="-1" strike="noStrike">
                <a:solidFill>
                  <a:srgbClr val="000000"/>
                </a:solidFill>
                <a:latin typeface="Arial"/>
                <a:ea typeface="Arial"/>
              </a:rPr>
              <a:t>Problem Statement : ResQAI – Disaster Response &amp; Rescue Coordination Platform</a:t>
            </a:r>
            <a:r>
              <a:rPr b="0" lang="en-US" sz="1400" spc="-1" strike="noStrike">
                <a:solidFill>
                  <a:srgbClr val="000000"/>
                </a:solidFill>
                <a:latin typeface="Arial"/>
                <a:ea typeface="Arial"/>
              </a:rPr>
              <a:t> </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1" lang="en-US" sz="1400" spc="-1" strike="noStrike">
                <a:solidFill>
                  <a:srgbClr val="000000"/>
                </a:solidFill>
                <a:latin typeface="Arial"/>
                <a:ea typeface="Arial"/>
              </a:rPr>
              <a:t>The Challenge</a:t>
            </a:r>
            <a:r>
              <a:rPr b="0" lang="en-US" sz="1400" spc="-1" strike="noStrike">
                <a:solidFill>
                  <a:srgbClr val="000000"/>
                </a:solidFill>
                <a:latin typeface="Arial"/>
                <a:ea typeface="Arial"/>
              </a:rPr>
              <a:t> </a:t>
            </a: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Natural disasters such as floods, earthquakes, cyclones, and fires make it difficult for people to access timely emergency information, locate safe shelters, and request rescue support. The lack of a centralized, AI-powered platform delays response and increases risks to lives and property.</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1" lang="en-US" sz="1400" spc="-1" strike="noStrike">
                <a:solidFill>
                  <a:srgbClr val="000000"/>
                </a:solidFill>
                <a:latin typeface="Arial"/>
                <a:ea typeface="Arial"/>
              </a:rPr>
              <a:t>The Objective</a:t>
            </a:r>
            <a:r>
              <a:rPr b="0" lang="en-US" sz="1400" spc="-1" strike="noStrike">
                <a:solidFill>
                  <a:srgbClr val="000000"/>
                </a:solidFill>
                <a:latin typeface="Arial"/>
                <a:ea typeface="Arial"/>
              </a:rPr>
              <a:t> </a:t>
            </a: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Build an </a:t>
            </a:r>
            <a:r>
              <a:rPr b="1" lang="en-US" sz="1400" spc="-1" strike="noStrike">
                <a:solidFill>
                  <a:srgbClr val="000000"/>
                </a:solidFill>
                <a:latin typeface="Arial"/>
                <a:ea typeface="Arial"/>
              </a:rPr>
              <a:t>AI-powered Disaster Response &amp; Rescue Coordination Platform</a:t>
            </a:r>
            <a:r>
              <a:rPr b="0" lang="en-US" sz="1400" spc="-1" strike="noStrike">
                <a:solidFill>
                  <a:srgbClr val="000000"/>
                </a:solidFill>
                <a:latin typeface="Arial"/>
                <a:ea typeface="Arial"/>
              </a:rPr>
              <a:t> that provides </a:t>
            </a:r>
            <a:r>
              <a:rPr b="1" lang="en-US" sz="1400" spc="-1" strike="noStrike">
                <a:solidFill>
                  <a:srgbClr val="000000"/>
                </a:solidFill>
                <a:latin typeface="Arial"/>
                <a:ea typeface="Arial"/>
              </a:rPr>
              <a:t>real-time emergency assistance and intelligent disaster guidance</a:t>
            </a:r>
            <a:r>
              <a:rPr b="0" lang="en-US" sz="1400" spc="-1" strike="noStrike">
                <a:solidFill>
                  <a:srgbClr val="000000"/>
                </a:solidFill>
                <a:latin typeface="Arial"/>
                <a:ea typeface="Arial"/>
              </a:rPr>
              <a:t>. The solution should include: </a:t>
            </a:r>
            <a:endParaRPr b="0" lang="en-US" sz="1400" spc="-1" strike="noStrike">
              <a:solidFill>
                <a:srgbClr val="000000"/>
              </a:solidFill>
              <a:latin typeface="Arial"/>
            </a:endParaRPr>
          </a:p>
          <a:p>
            <a:pPr marL="285840" indent="-285840">
              <a:lnSpc>
                <a:spcPct val="100000"/>
              </a:lnSpc>
              <a:buClr>
                <a:srgbClr val="000000"/>
              </a:buClr>
              <a:buFont typeface="Arial"/>
              <a:buChar char="•"/>
              <a:tabLst>
                <a:tab algn="l" pos="0"/>
              </a:tabLst>
            </a:pPr>
            <a:r>
              <a:rPr b="1" lang="en-US" sz="1400" spc="-1" strike="noStrike">
                <a:solidFill>
                  <a:srgbClr val="000000"/>
                </a:solidFill>
                <a:latin typeface="Arial"/>
                <a:ea typeface="Arial"/>
              </a:rPr>
              <a:t>AI Emergency Assistant</a:t>
            </a:r>
            <a:r>
              <a:rPr b="0" lang="en-US" sz="1400" spc="-1" strike="noStrike">
                <a:solidFill>
                  <a:srgbClr val="000000"/>
                </a:solidFill>
                <a:latin typeface="Arial"/>
                <a:ea typeface="Arial"/>
              </a:rPr>
              <a:t> – Instant disaster guidance and safety instructions.</a:t>
            </a:r>
            <a:endParaRPr b="0" lang="en-US" sz="1400" spc="-1" strike="noStrike">
              <a:solidFill>
                <a:srgbClr val="000000"/>
              </a:solidFill>
              <a:latin typeface="Arial"/>
            </a:endParaRPr>
          </a:p>
          <a:p>
            <a:pPr marL="285840" indent="-285840">
              <a:lnSpc>
                <a:spcPct val="100000"/>
              </a:lnSpc>
              <a:buClr>
                <a:srgbClr val="000000"/>
              </a:buClr>
              <a:buFont typeface="Arial"/>
              <a:buChar char="•"/>
              <a:tabLst>
                <a:tab algn="l" pos="0"/>
              </a:tabLst>
            </a:pPr>
            <a:r>
              <a:rPr b="1" lang="en-US" sz="1400" spc="-1" strike="noStrike">
                <a:solidFill>
                  <a:srgbClr val="000000"/>
                </a:solidFill>
                <a:latin typeface="Arial"/>
                <a:ea typeface="Arial"/>
              </a:rPr>
              <a:t>Disaster Information Retrieval</a:t>
            </a:r>
            <a:r>
              <a:rPr b="0" lang="en-US" sz="1400" spc="-1" strike="noStrike">
                <a:solidFill>
                  <a:srgbClr val="000000"/>
                </a:solidFill>
                <a:latin typeface="Arial"/>
                <a:ea typeface="Arial"/>
              </a:rPr>
              <a:t> – Reliable disaster alerts and first-aid guidance.</a:t>
            </a:r>
            <a:endParaRPr b="0" lang="en-US" sz="1400" spc="-1" strike="noStrike">
              <a:solidFill>
                <a:srgbClr val="000000"/>
              </a:solidFill>
              <a:latin typeface="Arial"/>
            </a:endParaRPr>
          </a:p>
          <a:p>
            <a:pPr marL="285840" indent="-285840">
              <a:lnSpc>
                <a:spcPct val="100000"/>
              </a:lnSpc>
              <a:buClr>
                <a:srgbClr val="000000"/>
              </a:buClr>
              <a:buFont typeface="Arial"/>
              <a:buChar char="•"/>
              <a:tabLst>
                <a:tab algn="l" pos="0"/>
              </a:tabLst>
            </a:pPr>
            <a:r>
              <a:rPr b="1" lang="en-US" sz="1400" spc="-1" strike="noStrike">
                <a:solidFill>
                  <a:srgbClr val="000000"/>
                </a:solidFill>
                <a:latin typeface="Arial"/>
                <a:ea typeface="Arial"/>
              </a:rPr>
              <a:t>SOS &amp; Incident Reporting</a:t>
            </a:r>
            <a:r>
              <a:rPr b="0" lang="en-US" sz="1400" spc="-1" strike="noStrike">
                <a:solidFill>
                  <a:srgbClr val="000000"/>
                </a:solidFill>
                <a:latin typeface="Arial"/>
                <a:ea typeface="Arial"/>
              </a:rPr>
              <a:t> – Report emergencies and request rescue support.</a:t>
            </a:r>
            <a:endParaRPr b="0" lang="en-US" sz="1400" spc="-1" strike="noStrike">
              <a:solidFill>
                <a:srgbClr val="000000"/>
              </a:solidFill>
              <a:latin typeface="Arial"/>
            </a:endParaRPr>
          </a:p>
          <a:p>
            <a:pPr marL="285840" indent="-285840">
              <a:lnSpc>
                <a:spcPct val="100000"/>
              </a:lnSpc>
              <a:buClr>
                <a:srgbClr val="000000"/>
              </a:buClr>
              <a:buFont typeface="Arial"/>
              <a:buChar char="•"/>
              <a:tabLst>
                <a:tab algn="l" pos="0"/>
              </a:tabLst>
            </a:pPr>
            <a:r>
              <a:rPr b="1" lang="en-US" sz="1400" spc="-1" strike="noStrike">
                <a:solidFill>
                  <a:srgbClr val="000000"/>
                </a:solidFill>
                <a:latin typeface="Arial"/>
                <a:ea typeface="Arial"/>
              </a:rPr>
              <a:t>Shelter Recommendation</a:t>
            </a:r>
            <a:r>
              <a:rPr b="0" lang="en-US" sz="1400" spc="-1" strike="noStrike">
                <a:solidFill>
                  <a:srgbClr val="000000"/>
                </a:solidFill>
                <a:latin typeface="Arial"/>
                <a:ea typeface="Arial"/>
              </a:rPr>
              <a:t> – Locate nearby shelters, hospitals, and relief centers.</a:t>
            </a:r>
            <a:endParaRPr b="0" lang="en-US" sz="1400" spc="-1" strike="noStrike">
              <a:solidFill>
                <a:srgbClr val="000000"/>
              </a:solidFill>
              <a:latin typeface="Arial"/>
            </a:endParaRPr>
          </a:p>
          <a:p>
            <a:pPr marL="285840" indent="-285840">
              <a:lnSpc>
                <a:spcPct val="100000"/>
              </a:lnSpc>
              <a:buClr>
                <a:srgbClr val="000000"/>
              </a:buClr>
              <a:buFont typeface="Arial"/>
              <a:buChar char="•"/>
              <a:tabLst>
                <a:tab algn="l" pos="0"/>
              </a:tabLst>
            </a:pPr>
            <a:r>
              <a:rPr b="1" lang="en-US" sz="1400" spc="-1" strike="noStrike">
                <a:solidFill>
                  <a:srgbClr val="000000"/>
                </a:solidFill>
                <a:latin typeface="Arial"/>
                <a:ea typeface="Arial"/>
              </a:rPr>
              <a:t>Preparedness &amp; Dashboard</a:t>
            </a:r>
            <a:r>
              <a:rPr b="0" lang="en-US" sz="1400" spc="-1" strike="noStrike">
                <a:solidFill>
                  <a:srgbClr val="000000"/>
                </a:solidFill>
                <a:latin typeface="Arial"/>
                <a:ea typeface="Arial"/>
              </a:rPr>
              <a:t> – Emergency checklists, alerts, and real-time disaster insights.</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p:txBody>
      </p:sp>
      <p:sp>
        <p:nvSpPr>
          <p:cNvPr id="69" name="Google Shape;96;p34"/>
          <p:cNvSpPr/>
          <p:nvPr/>
        </p:nvSpPr>
        <p:spPr>
          <a:xfrm>
            <a:off x="576000" y="704160"/>
            <a:ext cx="721440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000000"/>
                </a:solidFill>
                <a:latin typeface="Arial"/>
                <a:ea typeface="Arial"/>
              </a:rPr>
              <a:t>Problem Statement -</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Google Shape;101;p35"/>
          <p:cNvSpPr/>
          <p:nvPr/>
        </p:nvSpPr>
        <p:spPr>
          <a:xfrm>
            <a:off x="455400" y="1168560"/>
            <a:ext cx="10606680" cy="3720240"/>
          </a:xfrm>
          <a:prstGeom prst="rect">
            <a:avLst/>
          </a:prstGeom>
          <a:noFill/>
          <a:ln w="0">
            <a:noFill/>
          </a:ln>
        </p:spPr>
        <p:style>
          <a:lnRef idx="0"/>
          <a:fillRef idx="0"/>
          <a:effectRef idx="0"/>
          <a:fontRef idx="minor"/>
        </p:style>
        <p:txBody>
          <a:bodyPr anchor="t">
            <a:spAutoFit/>
          </a:bodyPr>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1" lang="en-US" sz="1400" spc="-1" strike="noStrike">
                <a:solidFill>
                  <a:srgbClr val="000000"/>
                </a:solidFill>
                <a:latin typeface="Arial"/>
                <a:ea typeface="Arial"/>
              </a:rPr>
              <a:t>Proposed Solution: ResQAI – AI-Powered Disaster Response &amp; Rescue Coordination Platform</a:t>
            </a: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The proposed solution is an </a:t>
            </a:r>
            <a:r>
              <a:rPr b="1" lang="en-US" sz="1400" spc="-1" strike="noStrike">
                <a:solidFill>
                  <a:srgbClr val="000000"/>
                </a:solidFill>
                <a:latin typeface="Arial"/>
                <a:ea typeface="Arial"/>
              </a:rPr>
              <a:t>AI-powered Disaster Response &amp; Rescue Coordination Platform</a:t>
            </a:r>
            <a:r>
              <a:rPr b="0" lang="en-US" sz="1400" spc="-1" strike="noStrike">
                <a:solidFill>
                  <a:srgbClr val="000000"/>
                </a:solidFill>
                <a:latin typeface="Arial"/>
                <a:ea typeface="Arial"/>
              </a:rPr>
              <a:t> built using </a:t>
            </a:r>
            <a:r>
              <a:rPr b="1" lang="en-US" sz="1400" spc="-1" strike="noStrike">
                <a:solidFill>
                  <a:srgbClr val="000000"/>
                </a:solidFill>
                <a:latin typeface="Arial"/>
                <a:ea typeface="Arial"/>
              </a:rPr>
              <a:t>IBM BoB, IBM watsonx.ai, Granite Models, Flask, HTML, CSS, and JavaScript</a:t>
            </a:r>
            <a:r>
              <a:rPr b="0" lang="en-US" sz="1400" spc="-1" strike="noStrike">
                <a:solidFill>
                  <a:srgbClr val="000000"/>
                </a:solidFill>
                <a:latin typeface="Arial"/>
                <a:ea typeface="Arial"/>
              </a:rPr>
              <a:t>. It provides real-time disaster guidance, emergency assistance, and rescue coordination through an intelligent multi-agent system.</a:t>
            </a: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Key Agents:</a:t>
            </a:r>
            <a:endParaRPr b="0" lang="en-US" sz="1400" spc="-1" strike="noStrike">
              <a:solidFill>
                <a:srgbClr val="000000"/>
              </a:solidFill>
              <a:latin typeface="Arial"/>
            </a:endParaRPr>
          </a:p>
          <a:p>
            <a:pPr>
              <a:lnSpc>
                <a:spcPct val="100000"/>
              </a:lnSpc>
              <a:tabLst>
                <a:tab algn="l" pos="0"/>
              </a:tabLst>
            </a:pPr>
            <a:r>
              <a:rPr b="1" lang="en-US" sz="1400" spc="-1" strike="noStrike">
                <a:solidFill>
                  <a:srgbClr val="000000"/>
                </a:solidFill>
                <a:latin typeface="Arial"/>
                <a:ea typeface="Arial"/>
              </a:rPr>
              <a:t>Disaster Knowledge Agent</a:t>
            </a:r>
            <a:r>
              <a:rPr b="0" lang="en-US" sz="1400" spc="-1" strike="noStrike">
                <a:solidFill>
                  <a:srgbClr val="000000"/>
                </a:solidFill>
                <a:latin typeface="Arial"/>
                <a:ea typeface="Arial"/>
              </a:rPr>
              <a:t> – Provides verified disaster information and safety guidelines.</a:t>
            </a:r>
            <a:endParaRPr b="0" lang="en-US" sz="1400" spc="-1" strike="noStrike">
              <a:solidFill>
                <a:srgbClr val="000000"/>
              </a:solidFill>
              <a:latin typeface="Arial"/>
            </a:endParaRPr>
          </a:p>
          <a:p>
            <a:pPr>
              <a:lnSpc>
                <a:spcPct val="100000"/>
              </a:lnSpc>
              <a:tabLst>
                <a:tab algn="l" pos="0"/>
              </a:tabLst>
            </a:pPr>
            <a:r>
              <a:rPr b="1" lang="en-US" sz="1400" spc="-1" strike="noStrike">
                <a:solidFill>
                  <a:srgbClr val="000000"/>
                </a:solidFill>
                <a:latin typeface="Arial"/>
                <a:ea typeface="Arial"/>
              </a:rPr>
              <a:t>Emergency Assistance Agent</a:t>
            </a:r>
            <a:r>
              <a:rPr b="0" lang="en-US" sz="1400" spc="-1" strike="noStrike">
                <a:solidFill>
                  <a:srgbClr val="000000"/>
                </a:solidFill>
                <a:latin typeface="Arial"/>
                <a:ea typeface="Arial"/>
              </a:rPr>
              <a:t> – Delivers AI-powered emergency guidance and first-aid support.</a:t>
            </a:r>
            <a:endParaRPr b="0" lang="en-US" sz="1400" spc="-1" strike="noStrike">
              <a:solidFill>
                <a:srgbClr val="000000"/>
              </a:solidFill>
              <a:latin typeface="Arial"/>
            </a:endParaRPr>
          </a:p>
          <a:p>
            <a:pPr>
              <a:lnSpc>
                <a:spcPct val="100000"/>
              </a:lnSpc>
              <a:tabLst>
                <a:tab algn="l" pos="0"/>
              </a:tabLst>
            </a:pPr>
            <a:r>
              <a:rPr b="1" lang="en-US" sz="1400" spc="-1" strike="noStrike">
                <a:solidFill>
                  <a:srgbClr val="000000"/>
                </a:solidFill>
                <a:latin typeface="Arial"/>
                <a:ea typeface="Arial"/>
              </a:rPr>
              <a:t>Rescue Coordination Agent</a:t>
            </a:r>
            <a:r>
              <a:rPr b="0" lang="en-US" sz="1400" spc="-1" strike="noStrike">
                <a:solidFill>
                  <a:srgbClr val="000000"/>
                </a:solidFill>
                <a:latin typeface="Arial"/>
                <a:ea typeface="Arial"/>
              </a:rPr>
              <a:t> – Handles SOS requests and incident reporting.</a:t>
            </a:r>
            <a:endParaRPr b="0" lang="en-US" sz="1400" spc="-1" strike="noStrike">
              <a:solidFill>
                <a:srgbClr val="000000"/>
              </a:solidFill>
              <a:latin typeface="Arial"/>
            </a:endParaRPr>
          </a:p>
          <a:p>
            <a:pPr>
              <a:lnSpc>
                <a:spcPct val="100000"/>
              </a:lnSpc>
              <a:tabLst>
                <a:tab algn="l" pos="0"/>
              </a:tabLst>
            </a:pPr>
            <a:r>
              <a:rPr b="1" lang="en-US" sz="1400" spc="-1" strike="noStrike">
                <a:solidFill>
                  <a:srgbClr val="000000"/>
                </a:solidFill>
                <a:latin typeface="Arial"/>
                <a:ea typeface="Arial"/>
              </a:rPr>
              <a:t>Shelter &amp; Resource Agent</a:t>
            </a:r>
            <a:r>
              <a:rPr b="0" lang="en-US" sz="1400" spc="-1" strike="noStrike">
                <a:solidFill>
                  <a:srgbClr val="000000"/>
                </a:solidFill>
                <a:latin typeface="Arial"/>
                <a:ea typeface="Arial"/>
              </a:rPr>
              <a:t> – Recommends nearby shelters, hospitals, and relief centers.</a:t>
            </a: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The platform features a </a:t>
            </a:r>
            <a:r>
              <a:rPr b="1" lang="en-US" sz="1400" spc="-1" strike="noStrike">
                <a:solidFill>
                  <a:srgbClr val="000000"/>
                </a:solidFill>
                <a:latin typeface="Arial"/>
                <a:ea typeface="Arial"/>
              </a:rPr>
              <a:t>responsive web dashboard</a:t>
            </a:r>
            <a:r>
              <a:rPr b="0" lang="en-US" sz="1400" spc="-1" strike="noStrike">
                <a:solidFill>
                  <a:srgbClr val="000000"/>
                </a:solidFill>
                <a:latin typeface="Arial"/>
                <a:ea typeface="Arial"/>
              </a:rPr>
              <a:t> for AI assistance, incident reporting, emergency checklists, and real-time disaster support.</a:t>
            </a: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IBM BoB accelerates application development, while IBM watsonx.ai Granite Models power intelligent reasoning and personalized emergency responses.</a:t>
            </a: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Overall, </a:t>
            </a:r>
            <a:r>
              <a:rPr b="1" lang="en-US" sz="1400" spc="-1" strike="noStrike">
                <a:solidFill>
                  <a:srgbClr val="000000"/>
                </a:solidFill>
                <a:latin typeface="Arial"/>
                <a:ea typeface="Arial"/>
              </a:rPr>
              <a:t>ResQAI</a:t>
            </a:r>
            <a:r>
              <a:rPr b="0" lang="en-US" sz="1400" spc="-1" strike="noStrike">
                <a:solidFill>
                  <a:srgbClr val="000000"/>
                </a:solidFill>
                <a:latin typeface="Arial"/>
                <a:ea typeface="Arial"/>
              </a:rPr>
              <a:t> enables faster emergency response, improved public safety, and efficient disaster management.</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p:txBody>
      </p:sp>
      <p:sp>
        <p:nvSpPr>
          <p:cNvPr id="71" name="Google Shape;102;p35"/>
          <p:cNvSpPr/>
          <p:nvPr/>
        </p:nvSpPr>
        <p:spPr>
          <a:xfrm>
            <a:off x="576000" y="704160"/>
            <a:ext cx="721440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000000"/>
                </a:solidFill>
                <a:latin typeface="Arial"/>
                <a:ea typeface="Arial"/>
              </a:rPr>
              <a:t>Proposed Solution -</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Google Shape;107;p36"/>
          <p:cNvSpPr/>
          <p:nvPr/>
        </p:nvSpPr>
        <p:spPr>
          <a:xfrm>
            <a:off x="777240" y="484560"/>
            <a:ext cx="712296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000000"/>
                </a:solidFill>
                <a:latin typeface="Arial"/>
                <a:ea typeface="Arial"/>
              </a:rPr>
              <a:t>Technology Used</a:t>
            </a:r>
            <a:endParaRPr b="0" lang="en-US" sz="2400" spc="-1" strike="noStrike">
              <a:solidFill>
                <a:srgbClr val="000000"/>
              </a:solidFill>
              <a:latin typeface="Arial"/>
            </a:endParaRPr>
          </a:p>
        </p:txBody>
      </p:sp>
      <p:sp>
        <p:nvSpPr>
          <p:cNvPr id="73" name="Google Shape;108;p36"/>
          <p:cNvSpPr/>
          <p:nvPr/>
        </p:nvSpPr>
        <p:spPr>
          <a:xfrm>
            <a:off x="777240" y="1207080"/>
            <a:ext cx="10515240" cy="4480200"/>
          </a:xfrm>
          <a:prstGeom prst="rect">
            <a:avLst/>
          </a:prstGeom>
          <a:noFill/>
          <a:ln w="0">
            <a:noFill/>
          </a:ln>
        </p:spPr>
        <p:style>
          <a:lnRef idx="0"/>
          <a:fillRef idx="0"/>
          <a:effectRef idx="0"/>
          <a:fontRef idx="minor"/>
        </p:style>
        <p:txBody>
          <a:bodyPr anchor="t">
            <a:spAutoFit/>
          </a:bodyPr>
          <a:p>
            <a:pPr marL="285840" indent="-285840">
              <a:lnSpc>
                <a:spcPct val="100000"/>
              </a:lnSpc>
              <a:buClr>
                <a:srgbClr val="000000"/>
              </a:buClr>
              <a:buFont typeface="Arial"/>
              <a:buChar char="•"/>
            </a:pPr>
            <a:r>
              <a:rPr b="1" lang="en-US" sz="1800" spc="-1" strike="noStrike">
                <a:solidFill>
                  <a:srgbClr val="000000"/>
                </a:solidFill>
                <a:latin typeface="Arial"/>
                <a:ea typeface="Arial"/>
              </a:rPr>
              <a:t>IBM BoB </a:t>
            </a:r>
            <a:r>
              <a:rPr b="0" lang="en-US" sz="1800" spc="-1" strike="noStrike">
                <a:solidFill>
                  <a:srgbClr val="000000"/>
                </a:solidFill>
                <a:latin typeface="Arial"/>
                <a:ea typeface="Arial"/>
              </a:rPr>
              <a:t>– For AI-assisted application development, code generation, debugging, and project acceleration.</a:t>
            </a: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IBM Granite Model </a:t>
            </a:r>
            <a:r>
              <a:rPr b="0" lang="en-US" sz="1800" spc="-1" strike="noStrike">
                <a:solidFill>
                  <a:srgbClr val="000000"/>
                </a:solidFill>
                <a:latin typeface="Arial"/>
                <a:ea typeface="Arial"/>
              </a:rPr>
              <a:t>(e.g., granite-3-2-8b) – For natural language understanding, reasoning, emergency guidance, and personalized AI assistance.</a:t>
            </a: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IBM Cloud </a:t>
            </a:r>
            <a:r>
              <a:rPr b="0" lang="en-US" sz="1800" spc="-1" strike="noStrike">
                <a:solidFill>
                  <a:srgbClr val="000000"/>
                </a:solidFill>
                <a:latin typeface="Arial"/>
                <a:ea typeface="Arial"/>
              </a:rPr>
              <a:t>– Provides a secure, scalable, and reliable platform for deploying and managing the ResQAI application and AI services.</a:t>
            </a: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RAG </a:t>
            </a:r>
            <a:r>
              <a:rPr b="0" lang="en-US" sz="1800" spc="-1" strike="noStrike">
                <a:solidFill>
                  <a:srgbClr val="000000"/>
                </a:solidFill>
                <a:latin typeface="Arial"/>
                <a:ea typeface="Arial"/>
              </a:rPr>
              <a:t>(Retrieval-Augmented Generation) – Retrieves trusted disaster information, emergency guidelines, and safety protocols before generating accurate AI responses.</a:t>
            </a: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IBM Watsonx.ai </a:t>
            </a:r>
            <a:r>
              <a:rPr b="0" lang="en-US" sz="1800" spc="-1" strike="noStrike">
                <a:solidFill>
                  <a:srgbClr val="000000"/>
                </a:solidFill>
                <a:latin typeface="Arial"/>
                <a:ea typeface="Arial"/>
              </a:rPr>
              <a:t>– For AI model deployment, prompt engineering, inference, and governance of the Granite foundation model.</a:t>
            </a: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Vector Database </a:t>
            </a:r>
            <a:r>
              <a:rPr b="0" lang="en-US" sz="1800" spc="-1" strike="noStrike">
                <a:solidFill>
                  <a:srgbClr val="000000"/>
                </a:solidFill>
                <a:latin typeface="Arial"/>
                <a:ea typeface="Arial"/>
              </a:rPr>
              <a:t>(FAISS/Chroma) – Stores disaster knowledge embeddings for fast and accurate RAG-based retrieval of emergency information.</a:t>
            </a: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Flask </a:t>
            </a:r>
            <a:r>
              <a:rPr b="0" lang="en-US" sz="1800" spc="-1" strike="noStrike">
                <a:solidFill>
                  <a:srgbClr val="000000"/>
                </a:solidFill>
                <a:latin typeface="Arial"/>
                <a:ea typeface="Arial"/>
              </a:rPr>
              <a:t>– Backend framework for integrating AI services, managing routes, and handling user requests.</a:t>
            </a: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HTML, CSS &amp; JavaScript </a:t>
            </a:r>
            <a:r>
              <a:rPr b="0" lang="en-US" sz="1800" spc="-1" strike="noStrike">
                <a:solidFill>
                  <a:srgbClr val="000000"/>
                </a:solidFill>
                <a:latin typeface="Arial"/>
                <a:ea typeface="Arial"/>
              </a:rPr>
              <a:t>– Used to build a responsive and user-friendly web interface for disaster response and rescue coordination.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Google Shape;113;p37"/>
          <p:cNvSpPr/>
          <p:nvPr/>
        </p:nvSpPr>
        <p:spPr>
          <a:xfrm>
            <a:off x="537480" y="323280"/>
            <a:ext cx="5908680" cy="448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400" spc="-1" strike="noStrike">
                <a:solidFill>
                  <a:srgbClr val="000000"/>
                </a:solidFill>
                <a:latin typeface="Arial"/>
                <a:ea typeface="Arial"/>
              </a:rPr>
              <a:t>Key Application Components Used -</a:t>
            </a:r>
            <a:endParaRPr b="0" lang="en-US" sz="2400" spc="-1" strike="noStrike">
              <a:solidFill>
                <a:srgbClr val="000000"/>
              </a:solidFill>
              <a:latin typeface="Arial"/>
            </a:endParaRPr>
          </a:p>
        </p:txBody>
      </p:sp>
      <p:sp>
        <p:nvSpPr>
          <p:cNvPr id="75" name="Google Shape;114;p37"/>
          <p:cNvSpPr/>
          <p:nvPr/>
        </p:nvSpPr>
        <p:spPr>
          <a:xfrm>
            <a:off x="2264400" y="6784560"/>
            <a:ext cx="2140560" cy="223920"/>
          </a:xfrm>
          <a:prstGeom prst="rect">
            <a:avLst/>
          </a:prstGeom>
          <a:noFill/>
          <a:ln w="0">
            <a:noFill/>
          </a:ln>
        </p:spPr>
        <p:style>
          <a:lnRef idx="0"/>
          <a:fillRef idx="0"/>
          <a:effectRef idx="0"/>
          <a:fontRef idx="minor"/>
        </p:style>
        <p:txBody>
          <a:bodyPr lIns="0" rIns="0" tIns="0" bIns="0" anchor="t">
            <a:noAutofit/>
          </a:bodyPr>
          <a:p>
            <a:pPr algn="ctr">
              <a:lnSpc>
                <a:spcPct val="109000"/>
              </a:lnSpc>
              <a:tabLst>
                <a:tab algn="l" pos="0"/>
              </a:tabLst>
            </a:pPr>
            <a:endParaRPr b="0" lang="en-US" sz="1400" spc="-1" strike="noStrike">
              <a:solidFill>
                <a:srgbClr val="000000"/>
              </a:solidFill>
              <a:latin typeface="Arial"/>
            </a:endParaRPr>
          </a:p>
        </p:txBody>
      </p:sp>
      <p:sp>
        <p:nvSpPr>
          <p:cNvPr id="76" name="Google Shape;115;p37"/>
          <p:cNvSpPr/>
          <p:nvPr/>
        </p:nvSpPr>
        <p:spPr>
          <a:xfrm>
            <a:off x="1782720" y="7100280"/>
            <a:ext cx="3103920" cy="731520"/>
          </a:xfrm>
          <a:prstGeom prst="rect">
            <a:avLst/>
          </a:prstGeom>
          <a:noFill/>
          <a:ln w="0">
            <a:noFill/>
          </a:ln>
        </p:spPr>
        <p:style>
          <a:lnRef idx="0"/>
          <a:fillRef idx="0"/>
          <a:effectRef idx="0"/>
          <a:fontRef idx="minor"/>
        </p:style>
        <p:txBody>
          <a:bodyPr lIns="0" rIns="0" tIns="0" bIns="0" anchor="t">
            <a:noAutofit/>
          </a:bodyPr>
          <a:p>
            <a:pPr algn="ctr">
              <a:lnSpc>
                <a:spcPct val="118000"/>
              </a:lnSpc>
              <a:tabLst>
                <a:tab algn="l" pos="0"/>
              </a:tabLst>
            </a:pPr>
            <a:endParaRPr b="0" lang="en-US" sz="1400" spc="-1" strike="noStrike">
              <a:solidFill>
                <a:srgbClr val="000000"/>
              </a:solidFill>
              <a:latin typeface="Arial"/>
            </a:endParaRPr>
          </a:p>
        </p:txBody>
      </p:sp>
      <p:sp>
        <p:nvSpPr>
          <p:cNvPr id="77" name="Google Shape;116;p37"/>
          <p:cNvSpPr/>
          <p:nvPr/>
        </p:nvSpPr>
        <p:spPr>
          <a:xfrm>
            <a:off x="5732280" y="6784560"/>
            <a:ext cx="1793520" cy="223920"/>
          </a:xfrm>
          <a:prstGeom prst="rect">
            <a:avLst/>
          </a:prstGeom>
          <a:noFill/>
          <a:ln w="0">
            <a:noFill/>
          </a:ln>
        </p:spPr>
        <p:style>
          <a:lnRef idx="0"/>
          <a:fillRef idx="0"/>
          <a:effectRef idx="0"/>
          <a:fontRef idx="minor"/>
        </p:style>
        <p:txBody>
          <a:bodyPr lIns="0" rIns="0" tIns="0" bIns="0" anchor="t">
            <a:noAutofit/>
          </a:bodyPr>
          <a:p>
            <a:pPr algn="ctr">
              <a:lnSpc>
                <a:spcPct val="109000"/>
              </a:lnSpc>
              <a:tabLst>
                <a:tab algn="l" pos="0"/>
              </a:tabLst>
            </a:pPr>
            <a:endParaRPr b="0" lang="en-US" sz="1400" spc="-1" strike="noStrike">
              <a:solidFill>
                <a:srgbClr val="000000"/>
              </a:solidFill>
              <a:latin typeface="Arial"/>
            </a:endParaRPr>
          </a:p>
        </p:txBody>
      </p:sp>
      <p:sp>
        <p:nvSpPr>
          <p:cNvPr id="78" name="Google Shape;117;p37"/>
          <p:cNvSpPr/>
          <p:nvPr/>
        </p:nvSpPr>
        <p:spPr>
          <a:xfrm>
            <a:off x="5077440" y="7100280"/>
            <a:ext cx="3103920" cy="731520"/>
          </a:xfrm>
          <a:prstGeom prst="rect">
            <a:avLst/>
          </a:prstGeom>
          <a:noFill/>
          <a:ln w="0">
            <a:noFill/>
          </a:ln>
        </p:spPr>
        <p:style>
          <a:lnRef idx="0"/>
          <a:fillRef idx="0"/>
          <a:effectRef idx="0"/>
          <a:fontRef idx="minor"/>
        </p:style>
        <p:txBody>
          <a:bodyPr lIns="0" rIns="0" tIns="0" bIns="0" anchor="t">
            <a:noAutofit/>
          </a:bodyPr>
          <a:p>
            <a:pPr algn="ctr">
              <a:lnSpc>
                <a:spcPct val="118000"/>
              </a:lnSpc>
              <a:tabLst>
                <a:tab algn="l" pos="0"/>
              </a:tabLst>
            </a:pPr>
            <a:endParaRPr b="0" lang="en-US" sz="1400" spc="-1" strike="noStrike">
              <a:solidFill>
                <a:srgbClr val="000000"/>
              </a:solidFill>
              <a:latin typeface="Arial"/>
            </a:endParaRPr>
          </a:p>
        </p:txBody>
      </p:sp>
      <p:sp>
        <p:nvSpPr>
          <p:cNvPr id="79" name="Google Shape;118;p37"/>
          <p:cNvSpPr/>
          <p:nvPr/>
        </p:nvSpPr>
        <p:spPr>
          <a:xfrm>
            <a:off x="9027000" y="6784560"/>
            <a:ext cx="1793520" cy="223920"/>
          </a:xfrm>
          <a:prstGeom prst="rect">
            <a:avLst/>
          </a:prstGeom>
          <a:noFill/>
          <a:ln w="0">
            <a:noFill/>
          </a:ln>
        </p:spPr>
        <p:style>
          <a:lnRef idx="0"/>
          <a:fillRef idx="0"/>
          <a:effectRef idx="0"/>
          <a:fontRef idx="minor"/>
        </p:style>
        <p:txBody>
          <a:bodyPr lIns="0" rIns="0" tIns="0" bIns="0" anchor="t">
            <a:noAutofit/>
          </a:bodyPr>
          <a:p>
            <a:pPr algn="ctr">
              <a:lnSpc>
                <a:spcPct val="109000"/>
              </a:lnSpc>
              <a:tabLst>
                <a:tab algn="l" pos="0"/>
              </a:tabLst>
            </a:pPr>
            <a:endParaRPr b="0" lang="en-US" sz="1400" spc="-1" strike="noStrike">
              <a:solidFill>
                <a:srgbClr val="000000"/>
              </a:solidFill>
              <a:latin typeface="Arial"/>
            </a:endParaRPr>
          </a:p>
        </p:txBody>
      </p:sp>
      <p:sp>
        <p:nvSpPr>
          <p:cNvPr id="80" name="Google Shape;119;p37"/>
          <p:cNvSpPr/>
          <p:nvPr/>
        </p:nvSpPr>
        <p:spPr>
          <a:xfrm>
            <a:off x="8372160" y="7100280"/>
            <a:ext cx="3103920" cy="731520"/>
          </a:xfrm>
          <a:prstGeom prst="rect">
            <a:avLst/>
          </a:prstGeom>
          <a:noFill/>
          <a:ln w="0">
            <a:noFill/>
          </a:ln>
        </p:spPr>
        <p:style>
          <a:lnRef idx="0"/>
          <a:fillRef idx="0"/>
          <a:effectRef idx="0"/>
          <a:fontRef idx="minor"/>
        </p:style>
        <p:txBody>
          <a:bodyPr lIns="0" rIns="0" tIns="0" bIns="0" anchor="t">
            <a:noAutofit/>
          </a:bodyPr>
          <a:p>
            <a:pPr algn="ctr">
              <a:lnSpc>
                <a:spcPct val="118000"/>
              </a:lnSpc>
              <a:tabLst>
                <a:tab algn="l" pos="0"/>
              </a:tabLst>
            </a:pPr>
            <a:endParaRPr b="0" lang="en-US" sz="1400" spc="-1" strike="noStrike">
              <a:solidFill>
                <a:srgbClr val="000000"/>
              </a:solidFill>
              <a:latin typeface="Arial"/>
            </a:endParaRPr>
          </a:p>
        </p:txBody>
      </p:sp>
      <p:sp>
        <p:nvSpPr>
          <p:cNvPr id="81" name="Google Shape;120;p37"/>
          <p:cNvSpPr/>
          <p:nvPr/>
        </p:nvSpPr>
        <p:spPr>
          <a:xfrm>
            <a:off x="474840" y="863280"/>
            <a:ext cx="8823600" cy="5428080"/>
          </a:xfrm>
          <a:prstGeom prst="rect">
            <a:avLst/>
          </a:prstGeom>
          <a:noFill/>
          <a:ln w="0">
            <a:noFill/>
          </a:ln>
        </p:spPr>
        <p:style>
          <a:lnRef idx="0"/>
          <a:fillRef idx="0"/>
          <a:effectRef idx="0"/>
          <a:fontRef idx="minor"/>
        </p:style>
        <p:txBody>
          <a:bodyPr anchor="t">
            <a:spAutoFit/>
          </a:bodyPr>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1" lang="en-US" sz="1400" spc="-1" strike="noStrike">
                <a:solidFill>
                  <a:srgbClr val="000000"/>
                </a:solidFill>
                <a:latin typeface="Arial"/>
                <a:ea typeface="Arial"/>
              </a:rPr>
              <a:t>1) Web Dashboard (UI) </a:t>
            </a:r>
            <a:r>
              <a:rPr b="0" lang="en-US" sz="1400" spc="-1" strike="noStrike">
                <a:solidFill>
                  <a:srgbClr val="000000"/>
                </a:solidFill>
                <a:latin typeface="Arial"/>
                <a:ea typeface="Arial"/>
              </a:rPr>
              <a:t>– Built with HTML, CSS &amp; JavaScript; lets users view alerts, report emergencies, and access disaster guidance.</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1" lang="en-US" sz="1400" spc="-1" strike="noStrike">
                <a:solidFill>
                  <a:srgbClr val="000000"/>
                </a:solidFill>
                <a:latin typeface="Arial"/>
                <a:ea typeface="Arial"/>
              </a:rPr>
              <a:t>2) IBM watsonx.ai Granite Model </a:t>
            </a:r>
            <a:r>
              <a:rPr b="0" lang="en-US" sz="1400" spc="-1" strike="noStrike">
                <a:solidFill>
                  <a:srgbClr val="000000"/>
                </a:solidFill>
                <a:latin typeface="Arial"/>
                <a:ea typeface="Arial"/>
              </a:rPr>
              <a:t>– Processes user queries and generates real-time emergency guidance and personalized responses.</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1" lang="en-US" sz="1400" spc="-1" strike="noStrike">
                <a:solidFill>
                  <a:srgbClr val="000000"/>
                </a:solidFill>
                <a:latin typeface="Arial"/>
                <a:ea typeface="Arial"/>
              </a:rPr>
              <a:t>3) Flask Backend </a:t>
            </a:r>
            <a:r>
              <a:rPr b="0" lang="en-US" sz="1400" spc="-1" strike="noStrike">
                <a:solidFill>
                  <a:srgbClr val="000000"/>
                </a:solidFill>
                <a:latin typeface="Arial"/>
                <a:ea typeface="Arial"/>
              </a:rPr>
              <a:t>– Manages API routes, request handling, and integration between the UI and AI services.</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1" lang="en-US" sz="1400" spc="-1" strike="noStrike">
                <a:solidFill>
                  <a:srgbClr val="000000"/>
                </a:solidFill>
                <a:latin typeface="Arial"/>
                <a:ea typeface="Arial"/>
              </a:rPr>
              <a:t>4) RAG + Vector Database (FAISS/Chroma) </a:t>
            </a:r>
            <a:r>
              <a:rPr b="0" lang="en-US" sz="1400" spc="-1" strike="noStrike">
                <a:solidFill>
                  <a:srgbClr val="000000"/>
                </a:solidFill>
                <a:latin typeface="Arial"/>
                <a:ea typeface="Arial"/>
              </a:rPr>
              <a:t>– Retrieves verified disaster knowledge before generating AI responses.</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1" lang="en-US" sz="1400" spc="-1" strike="noStrike">
                <a:solidFill>
                  <a:srgbClr val="000000"/>
                </a:solidFill>
                <a:latin typeface="Arial"/>
                <a:ea typeface="Arial"/>
              </a:rPr>
              <a:t>5) SOS &amp; Incident Reporting Module - </a:t>
            </a:r>
            <a:r>
              <a:rPr b="0" lang="en-US" sz="1400" spc="-1" strike="noStrike">
                <a:solidFill>
                  <a:srgbClr val="000000"/>
                </a:solidFill>
                <a:latin typeface="Arial"/>
                <a:ea typeface="Arial"/>
              </a:rPr>
              <a:t>Captures emergency reports and routes them to the Rescue Coordination Agent.</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6) IBM BoB – Assists in accelerated application development, code generation, and debugging.</a:t>
            </a:r>
            <a:endParaRPr b="0" lang="en-US" sz="1400" spc="-1" strike="noStrike">
              <a:solidFill>
                <a:srgbClr val="000000"/>
              </a:solidFill>
              <a:latin typeface="Arial"/>
            </a:endParaRPr>
          </a:p>
          <a:p>
            <a:pPr marL="343080" indent="-254160">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 </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Google Shape;125;p38"/>
          <p:cNvSpPr/>
          <p:nvPr/>
        </p:nvSpPr>
        <p:spPr>
          <a:xfrm>
            <a:off x="537480" y="323280"/>
            <a:ext cx="5908680" cy="448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400" spc="-1" strike="noStrike">
                <a:solidFill>
                  <a:srgbClr val="000000"/>
                </a:solidFill>
                <a:latin typeface="Arial"/>
                <a:ea typeface="Arial"/>
              </a:rPr>
              <a:t>Application</a:t>
            </a:r>
            <a:r>
              <a:rPr b="1" lang="en-US" sz="3500" spc="-1" strike="noStrike">
                <a:solidFill>
                  <a:srgbClr val="051d3a"/>
                </a:solidFill>
                <a:latin typeface="Times New Roman"/>
                <a:ea typeface="Times New Roman"/>
              </a:rPr>
              <a:t> </a:t>
            </a:r>
            <a:r>
              <a:rPr b="1" lang="en-US" sz="2400" spc="-1" strike="noStrike">
                <a:solidFill>
                  <a:srgbClr val="000000"/>
                </a:solidFill>
                <a:latin typeface="Arial"/>
                <a:ea typeface="Arial"/>
              </a:rPr>
              <a:t>Workflow -</a:t>
            </a:r>
            <a:endParaRPr b="0" lang="en-US" sz="2400" spc="-1" strike="noStrike">
              <a:solidFill>
                <a:srgbClr val="000000"/>
              </a:solidFill>
              <a:latin typeface="Arial"/>
            </a:endParaRPr>
          </a:p>
        </p:txBody>
      </p:sp>
      <p:pic>
        <p:nvPicPr>
          <p:cNvPr id="83" name="Google Shape;126;p38" descr="A screenshot of a computer&#10;&#10;AI-generated content may be incorrect."/>
          <p:cNvPicPr/>
          <p:nvPr/>
        </p:nvPicPr>
        <p:blipFill>
          <a:blip r:embed="rId1"/>
          <a:stretch/>
        </p:blipFill>
        <p:spPr>
          <a:xfrm>
            <a:off x="535680" y="1211400"/>
            <a:ext cx="11467800" cy="55051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Google Shape;131;p7"/>
          <p:cNvSpPr/>
          <p:nvPr/>
        </p:nvSpPr>
        <p:spPr>
          <a:xfrm>
            <a:off x="537480" y="323280"/>
            <a:ext cx="5908680" cy="448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400" spc="-1" strike="noStrike">
                <a:solidFill>
                  <a:schemeClr val="dk1"/>
                </a:solidFill>
                <a:latin typeface="Calibri"/>
                <a:ea typeface="Calibri"/>
              </a:rPr>
              <a:t>Architecture blueprint</a:t>
            </a:r>
            <a:endParaRPr b="0" lang="en-US" sz="2400" spc="-1" strike="noStrike">
              <a:solidFill>
                <a:srgbClr val="000000"/>
              </a:solidFill>
              <a:latin typeface="Arial"/>
            </a:endParaRPr>
          </a:p>
        </p:txBody>
      </p:sp>
      <p:pic>
        <p:nvPicPr>
          <p:cNvPr id="85" name="" descr=""/>
          <p:cNvPicPr/>
          <p:nvPr/>
        </p:nvPicPr>
        <p:blipFill>
          <a:blip r:embed="rId1"/>
          <a:stretch/>
        </p:blipFill>
        <p:spPr>
          <a:xfrm>
            <a:off x="1314720" y="1378800"/>
            <a:ext cx="9753120" cy="532404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Google Shape;137;p9" descr=""/>
          <p:cNvPicPr/>
          <p:nvPr/>
        </p:nvPicPr>
        <p:blipFill>
          <a:blip r:embed="rId1"/>
          <a:stretch/>
        </p:blipFill>
        <p:spPr>
          <a:xfrm>
            <a:off x="8372160" y="1167480"/>
            <a:ext cx="3015000" cy="4522680"/>
          </a:xfrm>
          <a:prstGeom prst="rect">
            <a:avLst/>
          </a:prstGeom>
          <a:ln w="0">
            <a:noFill/>
          </a:ln>
        </p:spPr>
      </p:pic>
      <p:sp>
        <p:nvSpPr>
          <p:cNvPr id="87" name="Google Shape;138;p9"/>
          <p:cNvSpPr/>
          <p:nvPr/>
        </p:nvSpPr>
        <p:spPr>
          <a:xfrm>
            <a:off x="475560" y="283320"/>
            <a:ext cx="9317520" cy="57888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3200" spc="-1" strike="noStrike">
                <a:solidFill>
                  <a:srgbClr val="000000"/>
                </a:solidFill>
                <a:latin typeface="Arial"/>
                <a:ea typeface="Arial"/>
              </a:rPr>
              <a:t>Role of Agentic AI in the solution </a:t>
            </a:r>
            <a:endParaRPr b="0" lang="en-US" sz="3200" spc="-1" strike="noStrike">
              <a:solidFill>
                <a:srgbClr val="000000"/>
              </a:solidFill>
              <a:latin typeface="Arial"/>
            </a:endParaRPr>
          </a:p>
        </p:txBody>
      </p:sp>
      <p:sp>
        <p:nvSpPr>
          <p:cNvPr id="88" name="Google Shape;139;p9"/>
          <p:cNvSpPr/>
          <p:nvPr/>
        </p:nvSpPr>
        <p:spPr>
          <a:xfrm>
            <a:off x="621720" y="1167480"/>
            <a:ext cx="7406280" cy="2652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1400" spc="-1" strike="noStrike">
                <a:solidFill>
                  <a:srgbClr val="000000"/>
                </a:solidFill>
                <a:latin typeface="Arial"/>
                <a:ea typeface="Arial"/>
              </a:rPr>
              <a:t>Role of Agentic AI in ResQAI</a:t>
            </a:r>
            <a:endParaRPr b="0" lang="en-US" sz="1400" spc="-1" strike="noStrike">
              <a:solidFill>
                <a:srgbClr val="000000"/>
              </a:solidFill>
              <a:latin typeface="Arial"/>
            </a:endParaRPr>
          </a:p>
          <a:p>
            <a:pPr>
              <a:lnSpc>
                <a:spcPct val="100000"/>
              </a:lnSpc>
              <a:tabLst>
                <a:tab algn="l" pos="0"/>
              </a:tabLst>
            </a:pPr>
            <a:r>
              <a:rPr b="1" lang="en-US" sz="1400" spc="-1" strike="noStrike">
                <a:solidFill>
                  <a:srgbClr val="000000"/>
                </a:solidFill>
                <a:latin typeface="Arial"/>
                <a:ea typeface="Arial"/>
              </a:rPr>
              <a:t>Agentic AI</a:t>
            </a:r>
            <a:r>
              <a:rPr b="0" lang="en-US" sz="1400" spc="-1" strike="noStrike">
                <a:solidFill>
                  <a:srgbClr val="000000"/>
                </a:solidFill>
                <a:latin typeface="Arial"/>
                <a:ea typeface="Arial"/>
              </a:rPr>
              <a:t> enables ResQAI to function as an intelligent disaster response system rather than a simple chatbot. Using </a:t>
            </a:r>
            <a:r>
              <a:rPr b="1" lang="en-US" sz="1400" spc="-1" strike="noStrike">
                <a:solidFill>
                  <a:srgbClr val="000000"/>
                </a:solidFill>
                <a:latin typeface="Arial"/>
                <a:ea typeface="Arial"/>
              </a:rPr>
              <a:t>IBM watsonx.ai</a:t>
            </a:r>
            <a:r>
              <a:rPr b="0" lang="en-US" sz="1400" spc="-1" strike="noStrike">
                <a:solidFill>
                  <a:srgbClr val="000000"/>
                </a:solidFill>
                <a:latin typeface="Arial"/>
                <a:ea typeface="Arial"/>
              </a:rPr>
              <a:t> and </a:t>
            </a:r>
            <a:r>
              <a:rPr b="1" lang="en-US" sz="1400" spc="-1" strike="noStrike">
                <a:solidFill>
                  <a:srgbClr val="000000"/>
                </a:solidFill>
                <a:latin typeface="Arial"/>
                <a:ea typeface="Arial"/>
              </a:rPr>
              <a:t>IBM Granite Models</a:t>
            </a:r>
            <a:r>
              <a:rPr b="0" lang="en-US" sz="1400" spc="-1" strike="noStrike">
                <a:solidFill>
                  <a:srgbClr val="000000"/>
                </a:solidFill>
                <a:latin typeface="Arial"/>
                <a:ea typeface="Arial"/>
              </a:rPr>
              <a:t>, it coordinates multiple AI agents to provide real-time emergency assistance.</a:t>
            </a: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Each agent performs a specific task—retrieving disaster information, providing emergency guidance, managing SOS requests, and recommending nearby shelters—while working together for faster and more accurate disaster response.</a:t>
            </a: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Agentic AI understands the user's situation and adapts its recommendations based on the disaster type, location, and emergency conditions. It also enables collaboration between agents, ensuring efficient rescue coordination and informed decision-making.</a:t>
            </a: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Overall, Agentic AI makes </a:t>
            </a:r>
            <a:r>
              <a:rPr b="1" lang="en-US" sz="1400" spc="-1" strike="noStrike">
                <a:solidFill>
                  <a:srgbClr val="000000"/>
                </a:solidFill>
                <a:latin typeface="Arial"/>
                <a:ea typeface="Arial"/>
              </a:rPr>
              <a:t>ResQAI</a:t>
            </a:r>
            <a:r>
              <a:rPr b="0" lang="en-US" sz="1400" spc="-1" strike="noStrike">
                <a:solidFill>
                  <a:srgbClr val="000000"/>
                </a:solidFill>
                <a:latin typeface="Arial"/>
                <a:ea typeface="Arial"/>
              </a:rPr>
              <a:t> proactive, context-aware, and intelligent, helping save lives through faster emergency response and disaster management.</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Google Shape;144;p39"/>
          <p:cNvSpPr/>
          <p:nvPr/>
        </p:nvSpPr>
        <p:spPr>
          <a:xfrm>
            <a:off x="793080" y="341640"/>
            <a:ext cx="6444000" cy="703800"/>
          </a:xfrm>
          <a:prstGeom prst="rect">
            <a:avLst/>
          </a:prstGeom>
          <a:noFill/>
          <a:ln w="0">
            <a:noFill/>
          </a:ln>
        </p:spPr>
        <p:style>
          <a:lnRef idx="0"/>
          <a:fillRef idx="0"/>
          <a:effectRef idx="0"/>
          <a:fontRef idx="minor"/>
        </p:style>
        <p:txBody>
          <a:bodyPr lIns="0" rIns="0" tIns="0" bIns="0" anchor="t">
            <a:noAutofit/>
          </a:bodyPr>
          <a:p>
            <a:pPr>
              <a:lnSpc>
                <a:spcPct val="157000"/>
              </a:lnSpc>
              <a:tabLst>
                <a:tab algn="l" pos="0"/>
              </a:tabLst>
            </a:pPr>
            <a:r>
              <a:rPr b="1" lang="en-US" sz="2400" spc="-1" strike="noStrike">
                <a:solidFill>
                  <a:srgbClr val="000000"/>
                </a:solidFill>
                <a:latin typeface="Arial"/>
                <a:ea typeface="Arial"/>
              </a:rPr>
              <a:t>Token Usage </a:t>
            </a:r>
            <a:endParaRPr b="0" lang="en-US" sz="2400" spc="-1" strike="noStrike">
              <a:solidFill>
                <a:srgbClr val="000000"/>
              </a:solidFill>
              <a:latin typeface="Arial"/>
            </a:endParaRPr>
          </a:p>
        </p:txBody>
      </p:sp>
      <p:sp>
        <p:nvSpPr>
          <p:cNvPr id="90" name="Google Shape;145;p39"/>
          <p:cNvSpPr/>
          <p:nvPr/>
        </p:nvSpPr>
        <p:spPr>
          <a:xfrm>
            <a:off x="1218600" y="3360240"/>
            <a:ext cx="7468200" cy="7657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91" name="Google Shape;146;p39"/>
          <p:cNvSpPr/>
          <p:nvPr/>
        </p:nvSpPr>
        <p:spPr>
          <a:xfrm>
            <a:off x="1218600" y="4395600"/>
            <a:ext cx="7468200" cy="7657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92" name="Google Shape;147;p39"/>
          <p:cNvSpPr/>
          <p:nvPr/>
        </p:nvSpPr>
        <p:spPr>
          <a:xfrm>
            <a:off x="1218600" y="5430600"/>
            <a:ext cx="7468200" cy="38268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93" name="Google Shape;148;p39"/>
          <p:cNvSpPr/>
          <p:nvPr/>
        </p:nvSpPr>
        <p:spPr>
          <a:xfrm>
            <a:off x="897480" y="1042200"/>
            <a:ext cx="4370760" cy="3045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400" spc="-1" strike="noStrike">
                <a:solidFill>
                  <a:srgbClr val="000000"/>
                </a:solidFill>
                <a:latin typeface="Arial"/>
                <a:ea typeface="Arial"/>
              </a:rPr>
              <a:t>11,761 token are used</a:t>
            </a:r>
            <a:endParaRPr b="0" lang="en-US" sz="1400" spc="-1" strike="noStrike">
              <a:solidFill>
                <a:srgbClr val="000000"/>
              </a:solidFill>
              <a:latin typeface="Arial"/>
            </a:endParaRPr>
          </a:p>
        </p:txBody>
      </p:sp>
      <p:pic>
        <p:nvPicPr>
          <p:cNvPr id="94" name="Google Shape;149;p39" descr="A screenshot of a computer&#10;&#10;AI-generated content may be incorrect."/>
          <p:cNvPicPr/>
          <p:nvPr/>
        </p:nvPicPr>
        <p:blipFill>
          <a:blip r:embed="rId1"/>
          <a:stretch/>
        </p:blipFill>
        <p:spPr>
          <a:xfrm>
            <a:off x="114120" y="2453760"/>
            <a:ext cx="5095440" cy="2857320"/>
          </a:xfrm>
          <a:prstGeom prst="rect">
            <a:avLst/>
          </a:prstGeom>
          <a:ln w="0">
            <a:noFill/>
          </a:ln>
        </p:spPr>
      </p:pic>
      <p:pic>
        <p:nvPicPr>
          <p:cNvPr id="95" name="Google Shape;150;p39" descr="A screenshot of a computer&#10;&#10;AI-generated content may be incorrect."/>
          <p:cNvPicPr/>
          <p:nvPr/>
        </p:nvPicPr>
        <p:blipFill>
          <a:blip r:embed="rId2"/>
          <a:stretch/>
        </p:blipFill>
        <p:spPr>
          <a:xfrm>
            <a:off x="6159600" y="2451240"/>
            <a:ext cx="5724000" cy="2857320"/>
          </a:xfrm>
          <a:prstGeom prst="rect">
            <a:avLst/>
          </a:prstGeom>
          <a:ln w="0">
            <a:noFill/>
          </a:ln>
        </p:spPr>
      </p:pic>
      <p:sp>
        <p:nvSpPr>
          <p:cNvPr id="96" name="Google Shape;151;p39"/>
          <p:cNvSpPr/>
          <p:nvPr/>
        </p:nvSpPr>
        <p:spPr>
          <a:xfrm>
            <a:off x="1278720" y="1717920"/>
            <a:ext cx="2742840" cy="3960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2000" spc="-1" strike="noStrike" u="sng">
                <a:solidFill>
                  <a:srgbClr val="000000"/>
                </a:solidFill>
                <a:uFillTx/>
                <a:latin typeface="Arial"/>
                <a:ea typeface="Arial"/>
              </a:rPr>
              <a:t>Before Prompt</a:t>
            </a:r>
            <a:endParaRPr b="0" lang="en-US" sz="2000" spc="-1" strike="noStrike">
              <a:solidFill>
                <a:srgbClr val="000000"/>
              </a:solidFill>
              <a:latin typeface="Arial"/>
            </a:endParaRPr>
          </a:p>
        </p:txBody>
      </p:sp>
      <p:sp>
        <p:nvSpPr>
          <p:cNvPr id="97" name="Google Shape;152;p39"/>
          <p:cNvSpPr/>
          <p:nvPr/>
        </p:nvSpPr>
        <p:spPr>
          <a:xfrm>
            <a:off x="7106760" y="1722960"/>
            <a:ext cx="2742840" cy="3960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2000" spc="-1" strike="noStrike" u="sng">
                <a:solidFill>
                  <a:srgbClr val="000000"/>
                </a:solidFill>
                <a:uFillTx/>
                <a:latin typeface="Arial"/>
                <a:ea typeface="Arial"/>
              </a:rPr>
              <a:t>After the Prompt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Google Shape;157;p40"/>
          <p:cNvSpPr/>
          <p:nvPr/>
        </p:nvSpPr>
        <p:spPr>
          <a:xfrm>
            <a:off x="777240" y="484560"/>
            <a:ext cx="7122960" cy="4568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000000"/>
                </a:solidFill>
                <a:latin typeface="Arial"/>
                <a:ea typeface="Arial"/>
              </a:rPr>
              <a:t>Novelty and Uniqueness</a:t>
            </a:r>
            <a:endParaRPr b="0" lang="en-US" sz="2400" spc="-1" strike="noStrike">
              <a:solidFill>
                <a:srgbClr val="000000"/>
              </a:solidFill>
              <a:latin typeface="Arial"/>
            </a:endParaRPr>
          </a:p>
        </p:txBody>
      </p:sp>
      <p:sp>
        <p:nvSpPr>
          <p:cNvPr id="99" name="Google Shape;158;p40"/>
          <p:cNvSpPr/>
          <p:nvPr/>
        </p:nvSpPr>
        <p:spPr>
          <a:xfrm>
            <a:off x="777240" y="1207080"/>
            <a:ext cx="11301480" cy="55166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800" spc="-1" strike="noStrike">
                <a:solidFill>
                  <a:srgbClr val="000000"/>
                </a:solidFill>
                <a:latin typeface="Arial"/>
                <a:ea typeface="Arial"/>
              </a:rPr>
              <a:t>The proposed </a:t>
            </a:r>
            <a:r>
              <a:rPr b="1" lang="en-US" sz="1800" spc="-1" strike="noStrike">
                <a:solidFill>
                  <a:srgbClr val="000000"/>
                </a:solidFill>
                <a:latin typeface="Arial"/>
                <a:ea typeface="Arial"/>
              </a:rPr>
              <a:t>ResQAI</a:t>
            </a:r>
            <a:r>
              <a:rPr b="0" lang="en-US" sz="1800" spc="-1" strike="noStrike">
                <a:solidFill>
                  <a:srgbClr val="000000"/>
                </a:solidFill>
                <a:latin typeface="Arial"/>
                <a:ea typeface="Arial"/>
              </a:rPr>
              <a:t> stands out by combining </a:t>
            </a:r>
            <a:r>
              <a:rPr b="1" lang="en-US" sz="1800" spc="-1" strike="noStrike">
                <a:solidFill>
                  <a:srgbClr val="000000"/>
                </a:solidFill>
                <a:latin typeface="Arial"/>
                <a:ea typeface="Arial"/>
              </a:rPr>
              <a:t>Agentic AI, RAG, and IBM BoB-accelerated development</a:t>
            </a:r>
            <a:r>
              <a:rPr b="0" lang="en-US" sz="1800" spc="-1" strike="noStrike">
                <a:solidFill>
                  <a:srgbClr val="000000"/>
                </a:solidFill>
                <a:latin typeface="Arial"/>
                <a:ea typeface="Arial"/>
              </a:rPr>
              <a:t> into a single intelligent disaster-response system.</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1" lang="en-US" sz="1800" spc="-1" strike="noStrike">
                <a:solidFill>
                  <a:srgbClr val="000000"/>
                </a:solidFill>
                <a:latin typeface="Arial"/>
                <a:ea typeface="Arial"/>
              </a:rPr>
              <a:t>Multi-Agent Coordination</a:t>
            </a:r>
            <a:r>
              <a:rPr b="0" lang="en-US" sz="1800" spc="-1" strike="noStrike">
                <a:solidFill>
                  <a:srgbClr val="000000"/>
                </a:solidFill>
                <a:latin typeface="Arial"/>
                <a:ea typeface="Arial"/>
              </a:rPr>
              <a:t> – Instead of a single chatbot, four specialized agents collaborate to deliver accurate, context-aware disaster response. </a:t>
            </a:r>
            <a:endParaRPr b="0" lang="en-US" sz="1800" spc="-1" strike="noStrike">
              <a:solidFill>
                <a:srgbClr val="000000"/>
              </a:solidFill>
              <a:latin typeface="Arial"/>
            </a:endParaRPr>
          </a:p>
          <a:p>
            <a:pPr>
              <a:lnSpc>
                <a:spcPct val="100000"/>
              </a:lnSpc>
              <a:tabLst>
                <a:tab algn="l" pos="0"/>
              </a:tabLst>
            </a:pPr>
            <a:r>
              <a:rPr b="1" lang="en-US" sz="1800" spc="-1" strike="noStrike">
                <a:solidFill>
                  <a:srgbClr val="000000"/>
                </a:solidFill>
                <a:latin typeface="Arial"/>
                <a:ea typeface="Arial"/>
              </a:rPr>
              <a:t>RAG-Based Reliability</a:t>
            </a:r>
            <a:r>
              <a:rPr b="0" lang="en-US" sz="1800" spc="-1" strike="noStrike">
                <a:solidFill>
                  <a:srgbClr val="000000"/>
                </a:solidFill>
                <a:latin typeface="Arial"/>
                <a:ea typeface="Arial"/>
              </a:rPr>
              <a:t> – Combines real-time data retrieval with AI generation, reducing misinformation during emergencies. </a:t>
            </a:r>
            <a:endParaRPr b="0" lang="en-US" sz="1800" spc="-1" strike="noStrike">
              <a:solidFill>
                <a:srgbClr val="000000"/>
              </a:solidFill>
              <a:latin typeface="Arial"/>
            </a:endParaRPr>
          </a:p>
          <a:p>
            <a:pPr>
              <a:lnSpc>
                <a:spcPct val="100000"/>
              </a:lnSpc>
              <a:tabLst>
                <a:tab algn="l" pos="0"/>
              </a:tabLst>
            </a:pPr>
            <a:r>
              <a:rPr b="1" lang="en-US" sz="1800" spc="-1" strike="noStrike">
                <a:solidFill>
                  <a:srgbClr val="000000"/>
                </a:solidFill>
                <a:latin typeface="Arial"/>
                <a:ea typeface="Arial"/>
              </a:rPr>
              <a:t>Rapid Development with IBM BoB</a:t>
            </a:r>
            <a:r>
              <a:rPr b="0" lang="en-US" sz="1800" spc="-1" strike="noStrike">
                <a:solidFill>
                  <a:srgbClr val="000000"/>
                </a:solidFill>
                <a:latin typeface="Arial"/>
                <a:ea typeface="Arial"/>
              </a:rPr>
              <a:t> – Accelerates building, testing, and deployment of the platform. </a:t>
            </a:r>
            <a:endParaRPr b="0" lang="en-US" sz="1800" spc="-1" strike="noStrike">
              <a:solidFill>
                <a:srgbClr val="000000"/>
              </a:solidFill>
              <a:latin typeface="Arial"/>
            </a:endParaRPr>
          </a:p>
          <a:p>
            <a:pPr>
              <a:lnSpc>
                <a:spcPct val="100000"/>
              </a:lnSpc>
              <a:tabLst>
                <a:tab algn="l" pos="0"/>
              </a:tabLst>
            </a:pPr>
            <a:r>
              <a:rPr b="1" lang="en-US" sz="1800" spc="-1" strike="noStrike">
                <a:solidFill>
                  <a:srgbClr val="000000"/>
                </a:solidFill>
                <a:latin typeface="Arial"/>
                <a:ea typeface="Arial"/>
              </a:rPr>
              <a:t>Real-Time SOS &amp; Rescue Coordination</a:t>
            </a:r>
            <a:r>
              <a:rPr b="0" lang="en-US" sz="1800" spc="-1" strike="noStrike">
                <a:solidFill>
                  <a:srgbClr val="000000"/>
                </a:solidFill>
                <a:latin typeface="Arial"/>
                <a:ea typeface="Arial"/>
              </a:rPr>
              <a:t> – Enables instant incident reporting and coordinated rescue response. </a:t>
            </a:r>
            <a:endParaRPr b="0" lang="en-US" sz="1800" spc="-1" strike="noStrike">
              <a:solidFill>
                <a:srgbClr val="000000"/>
              </a:solidFill>
              <a:latin typeface="Arial"/>
            </a:endParaRPr>
          </a:p>
          <a:p>
            <a:pPr>
              <a:lnSpc>
                <a:spcPct val="100000"/>
              </a:lnSpc>
              <a:tabLst>
                <a:tab algn="l" pos="0"/>
              </a:tabLst>
            </a:pPr>
            <a:r>
              <a:rPr b="1" lang="en-US" sz="1800" spc="-1" strike="noStrike">
                <a:solidFill>
                  <a:srgbClr val="000000"/>
                </a:solidFill>
                <a:latin typeface="Arial"/>
                <a:ea typeface="Arial"/>
              </a:rPr>
              <a:t>Location-Aware Shelter Recommendations</a:t>
            </a:r>
            <a:r>
              <a:rPr b="0" lang="en-US" sz="1800" spc="-1" strike="noStrike">
                <a:solidFill>
                  <a:srgbClr val="000000"/>
                </a:solidFill>
                <a:latin typeface="Arial"/>
                <a:ea typeface="Arial"/>
              </a:rPr>
              <a:t> – Helps users quickly find nearby shelters, hospitals, and relief centers. </a:t>
            </a:r>
            <a:endParaRPr b="0" lang="en-US" sz="1800" spc="-1" strike="noStrike">
              <a:solidFill>
                <a:srgbClr val="000000"/>
              </a:solidFill>
              <a:latin typeface="Arial"/>
            </a:endParaRPr>
          </a:p>
          <a:p>
            <a:pPr>
              <a:lnSpc>
                <a:spcPct val="100000"/>
              </a:lnSpc>
              <a:tabLst>
                <a:tab algn="l" pos="0"/>
              </a:tabLst>
            </a:pPr>
            <a:r>
              <a:rPr b="1" lang="en-US" sz="1800" spc="-1" strike="noStrike">
                <a:solidFill>
                  <a:srgbClr val="000000"/>
                </a:solidFill>
                <a:latin typeface="Arial"/>
                <a:ea typeface="Arial"/>
              </a:rPr>
              <a:t>Preventive &amp; Proactive Guidance</a:t>
            </a:r>
            <a:r>
              <a:rPr b="0" lang="en-US" sz="1800" spc="-1" strike="noStrike">
                <a:solidFill>
                  <a:srgbClr val="000000"/>
                </a:solidFill>
                <a:latin typeface="Arial"/>
                <a:ea typeface="Arial"/>
              </a:rPr>
              <a:t> – Provides safety instructions and preparedness checklists before disasters escalate. </a:t>
            </a:r>
            <a:endParaRPr b="0" lang="en-US" sz="1800" spc="-1" strike="noStrike">
              <a:solidFill>
                <a:srgbClr val="000000"/>
              </a:solidFill>
              <a:latin typeface="Arial"/>
            </a:endParaRPr>
          </a:p>
          <a:p>
            <a:pPr>
              <a:lnSpc>
                <a:spcPct val="100000"/>
              </a:lnSpc>
              <a:tabLst>
                <a:tab algn="l" pos="0"/>
              </a:tabLst>
            </a:pPr>
            <a:r>
              <a:rPr b="1" lang="en-US" sz="1800" spc="-1" strike="noStrike">
                <a:solidFill>
                  <a:srgbClr val="000000"/>
                </a:solidFill>
                <a:latin typeface="Arial"/>
                <a:ea typeface="Arial"/>
              </a:rPr>
              <a:t>Scalable &amp; Enterprise-Ready</a:t>
            </a:r>
            <a:r>
              <a:rPr b="0" lang="en-US" sz="1800" spc="-1" strike="noStrike">
                <a:solidFill>
                  <a:srgbClr val="000000"/>
                </a:solidFill>
                <a:latin typeface="Arial"/>
                <a:ea typeface="Arial"/>
              </a:rPr>
              <a:t> – Built on </a:t>
            </a:r>
            <a:r>
              <a:rPr b="1" lang="en-US" sz="1800" spc="-1" strike="noStrike">
                <a:solidFill>
                  <a:srgbClr val="000000"/>
                </a:solidFill>
                <a:latin typeface="Arial"/>
                <a:ea typeface="Arial"/>
              </a:rPr>
              <a:t>IBM watsonx.ai</a:t>
            </a:r>
            <a:r>
              <a:rPr b="0" lang="en-US" sz="1800" spc="-1" strike="noStrike">
                <a:solidFill>
                  <a:srgbClr val="000000"/>
                </a:solidFill>
                <a:latin typeface="Arial"/>
                <a:ea typeface="Arial"/>
              </a:rPr>
              <a:t> with </a:t>
            </a:r>
            <a:r>
              <a:rPr b="1" lang="en-US" sz="1800" spc="-1" strike="noStrike">
                <a:solidFill>
                  <a:srgbClr val="000000"/>
                </a:solidFill>
                <a:latin typeface="Arial"/>
                <a:ea typeface="Arial"/>
              </a:rPr>
              <a:t>IBM Granite models</a:t>
            </a:r>
            <a:r>
              <a:rPr b="0" lang="en-US" sz="1800" spc="-1" strike="noStrike">
                <a:solidFill>
                  <a:srgbClr val="000000"/>
                </a:solidFill>
                <a:latin typeface="Arial"/>
                <a:ea typeface="Arial"/>
              </a:rPr>
              <a:t>, ensuring reliability and governance. </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p>
            <a:pPr>
              <a:lnSpc>
                <a:spcPct val="100000"/>
              </a:lnSpc>
              <a:tabLst>
                <a:tab algn="l" pos="0"/>
              </a:tabLst>
            </a:pPr>
            <a:r>
              <a:rPr b="0" lang="en-US" sz="1800" spc="-1" strike="noStrike">
                <a:solidFill>
                  <a:srgbClr val="000000"/>
                </a:solidFill>
                <a:latin typeface="Arial"/>
                <a:ea typeface="Arial"/>
              </a:rPr>
              <a:t>This makes the solution a </a:t>
            </a:r>
            <a:r>
              <a:rPr b="1" lang="en-US" sz="1800" spc="-1" strike="noStrike">
                <a:solidFill>
                  <a:srgbClr val="000000"/>
                </a:solidFill>
                <a:latin typeface="Arial"/>
                <a:ea typeface="Arial"/>
              </a:rPr>
              <a:t>smart, adaptive, and proactive digital disaster response assistant</a:t>
            </a:r>
            <a:r>
              <a:rPr b="0" lang="en-US" sz="1800" spc="-1" strike="noStrike">
                <a:solidFill>
                  <a:srgbClr val="000000"/>
                </a:solidFill>
                <a:latin typeface="Arial"/>
                <a:ea typeface="Arial"/>
              </a:rPr>
              <a:t>, not just a static alert system.</a:t>
            </a:r>
            <a:endParaRPr b="0" lang="en-US" sz="18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Google Shape;163;p41"/>
          <p:cNvSpPr/>
          <p:nvPr/>
        </p:nvSpPr>
        <p:spPr>
          <a:xfrm>
            <a:off x="1218600" y="420840"/>
            <a:ext cx="6444000" cy="703800"/>
          </a:xfrm>
          <a:prstGeom prst="rect">
            <a:avLst/>
          </a:prstGeom>
          <a:noFill/>
          <a:ln w="0">
            <a:noFill/>
          </a:ln>
        </p:spPr>
        <p:style>
          <a:lnRef idx="0"/>
          <a:fillRef idx="0"/>
          <a:effectRef idx="0"/>
          <a:fontRef idx="minor"/>
        </p:style>
        <p:txBody>
          <a:bodyPr lIns="0" rIns="0" tIns="0" bIns="0" anchor="t">
            <a:noAutofit/>
          </a:bodyPr>
          <a:p>
            <a:pPr>
              <a:lnSpc>
                <a:spcPct val="157000"/>
              </a:lnSpc>
              <a:tabLst>
                <a:tab algn="l" pos="0"/>
              </a:tabLst>
            </a:pPr>
            <a:r>
              <a:rPr b="1" lang="en-US" sz="2400" spc="-1" strike="noStrike">
                <a:solidFill>
                  <a:srgbClr val="000000"/>
                </a:solidFill>
                <a:latin typeface="Arial"/>
                <a:ea typeface="Arial"/>
              </a:rPr>
              <a:t>Git Hub Link</a:t>
            </a:r>
            <a:endParaRPr b="0" lang="en-US" sz="2400" spc="-1" strike="noStrike">
              <a:solidFill>
                <a:srgbClr val="000000"/>
              </a:solidFill>
              <a:latin typeface="Arial"/>
            </a:endParaRPr>
          </a:p>
        </p:txBody>
      </p:sp>
      <p:sp>
        <p:nvSpPr>
          <p:cNvPr id="101" name="Google Shape;164;p41"/>
          <p:cNvSpPr/>
          <p:nvPr/>
        </p:nvSpPr>
        <p:spPr>
          <a:xfrm>
            <a:off x="1218600" y="1153800"/>
            <a:ext cx="9214200" cy="427680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 Please create public github repository (Enable Add README  button while creating repository) with format – </a:t>
            </a:r>
            <a:endParaRPr b="0" lang="en-US" sz="1850" spc="-1" strike="noStrike">
              <a:solidFill>
                <a:srgbClr val="000000"/>
              </a:solidFill>
              <a:latin typeface="Arial"/>
            </a:endParaRPr>
          </a:p>
          <a:p>
            <a:pPr>
              <a:lnSpc>
                <a:spcPct val="162000"/>
              </a:lnSpc>
              <a:tabLst>
                <a:tab algn="l" pos="0"/>
              </a:tabLst>
            </a:pPr>
            <a:r>
              <a:rPr b="0" lang="en-US" sz="1850" spc="-1" strike="noStrike">
                <a:solidFill>
                  <a:srgbClr val="2b3541"/>
                </a:solidFill>
                <a:latin typeface="Times New Roman"/>
                <a:ea typeface="Times New Roman"/>
              </a:rPr>
              <a:t>Please test and Paste the working  Github URL –https://github.com/Gayatri-user/ResQAI_IBM-project</a:t>
            </a:r>
            <a:endParaRPr b="0" lang="en-US" sz="1850" spc="-1" strike="noStrike">
              <a:solidFill>
                <a:srgbClr val="000000"/>
              </a:solidFill>
              <a:latin typeface="Arial"/>
            </a:endParaRPr>
          </a:p>
          <a:p>
            <a:pPr>
              <a:lnSpc>
                <a:spcPct val="162000"/>
              </a:lnSpc>
              <a:tabLst>
                <a:tab algn="l" pos="0"/>
              </a:tabLst>
            </a:pPr>
            <a:r>
              <a:rPr b="1" lang="en-US" sz="1850" spc="-1" strike="noStrike">
                <a:solidFill>
                  <a:srgbClr val="2b3541"/>
                </a:solidFill>
                <a:latin typeface="Times New Roman"/>
                <a:ea typeface="Times New Roman"/>
              </a:rPr>
              <a:t>Make sure you have Uploaded following three files into your github repository  </a:t>
            </a:r>
            <a:br>
              <a:rPr sz="1850"/>
            </a:br>
            <a:r>
              <a:rPr b="0" lang="en-US" sz="1850" spc="-1" strike="noStrike">
                <a:solidFill>
                  <a:srgbClr val="2b3541"/>
                </a:solidFill>
                <a:latin typeface="Times New Roman"/>
                <a:ea typeface="Times New Roman"/>
              </a:rPr>
              <a:t>1) app.json file , 2) yourproblemstatement.pdf file  3) your projectpresntation.pptx file 4)any other files </a:t>
            </a:r>
            <a:endParaRPr b="0" lang="en-US" sz="1850" spc="-1" strike="noStrike">
              <a:solidFill>
                <a:srgbClr val="000000"/>
              </a:solidFill>
              <a:latin typeface="Arial"/>
            </a:endParaRPr>
          </a:p>
          <a:p>
            <a:pPr>
              <a:lnSpc>
                <a:spcPct val="162000"/>
              </a:lnSpc>
              <a:tabLst>
                <a:tab algn="l" pos="0"/>
              </a:tabLst>
            </a:pPr>
            <a:endParaRPr b="0" lang="en-US" sz="1850" spc="-1" strike="noStrike">
              <a:solidFill>
                <a:srgbClr val="000000"/>
              </a:solidFill>
              <a:latin typeface="Arial"/>
            </a:endParaRPr>
          </a:p>
        </p:txBody>
      </p:sp>
      <p:sp>
        <p:nvSpPr>
          <p:cNvPr id="102" name="Google Shape;165;p41"/>
          <p:cNvSpPr/>
          <p:nvPr/>
        </p:nvSpPr>
        <p:spPr>
          <a:xfrm>
            <a:off x="1218600" y="3360240"/>
            <a:ext cx="7468200" cy="7657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103" name="Google Shape;166;p41"/>
          <p:cNvSpPr/>
          <p:nvPr/>
        </p:nvSpPr>
        <p:spPr>
          <a:xfrm>
            <a:off x="1218600" y="4395600"/>
            <a:ext cx="7468200" cy="7657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104" name="Google Shape;167;p41"/>
          <p:cNvSpPr/>
          <p:nvPr/>
        </p:nvSpPr>
        <p:spPr>
          <a:xfrm>
            <a:off x="1218600" y="5430600"/>
            <a:ext cx="7468200" cy="38268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Google Shape;172;p42"/>
          <p:cNvSpPr/>
          <p:nvPr/>
        </p:nvSpPr>
        <p:spPr>
          <a:xfrm>
            <a:off x="1218600" y="420840"/>
            <a:ext cx="6444000" cy="703800"/>
          </a:xfrm>
          <a:prstGeom prst="rect">
            <a:avLst/>
          </a:prstGeom>
          <a:noFill/>
          <a:ln w="0">
            <a:noFill/>
          </a:ln>
        </p:spPr>
        <p:style>
          <a:lnRef idx="0"/>
          <a:fillRef idx="0"/>
          <a:effectRef idx="0"/>
          <a:fontRef idx="minor"/>
        </p:style>
        <p:txBody>
          <a:bodyPr lIns="0" rIns="0" tIns="0" bIns="0" anchor="t">
            <a:noAutofit/>
          </a:bodyPr>
          <a:p>
            <a:pPr>
              <a:lnSpc>
                <a:spcPct val="157000"/>
              </a:lnSpc>
              <a:tabLst>
                <a:tab algn="l" pos="0"/>
              </a:tabLst>
            </a:pPr>
            <a:r>
              <a:rPr b="1" lang="en-US" sz="2400" spc="-1" strike="noStrike">
                <a:solidFill>
                  <a:srgbClr val="000000"/>
                </a:solidFill>
                <a:latin typeface="Arial"/>
                <a:ea typeface="Arial"/>
              </a:rPr>
              <a:t>Future Scope </a:t>
            </a:r>
            <a:endParaRPr b="0" lang="en-US" sz="2400" spc="-1" strike="noStrike">
              <a:solidFill>
                <a:srgbClr val="000000"/>
              </a:solidFill>
              <a:latin typeface="Arial"/>
            </a:endParaRPr>
          </a:p>
        </p:txBody>
      </p:sp>
      <p:sp>
        <p:nvSpPr>
          <p:cNvPr id="106" name="Google Shape;173;p42"/>
          <p:cNvSpPr/>
          <p:nvPr/>
        </p:nvSpPr>
        <p:spPr>
          <a:xfrm>
            <a:off x="1218600" y="1221840"/>
            <a:ext cx="9214200" cy="427680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1" lang="en-US" sz="1850" spc="-1" strike="noStrike">
                <a:solidFill>
                  <a:srgbClr val="2b3541"/>
                </a:solidFill>
                <a:latin typeface="Times New Roman"/>
                <a:ea typeface="Times New Roman"/>
              </a:rPr>
              <a:t>1. Real-Time Disaster Alerts &amp; IoT Integration</a:t>
            </a:r>
            <a:endParaRPr b="0" lang="en-US" sz="1850" spc="-1" strike="noStrike">
              <a:solidFill>
                <a:srgbClr val="000000"/>
              </a:solidFill>
              <a:latin typeface="Arial"/>
            </a:endParaRPr>
          </a:p>
          <a:p>
            <a:pPr>
              <a:lnSpc>
                <a:spcPct val="162000"/>
              </a:lnSpc>
              <a:tabLst>
                <a:tab algn="l" pos="0"/>
              </a:tabLst>
            </a:pPr>
            <a:r>
              <a:rPr b="0" lang="en-US" sz="1850" spc="-1" strike="noStrike">
                <a:solidFill>
                  <a:srgbClr val="2b3541"/>
                </a:solidFill>
                <a:latin typeface="Times New Roman"/>
                <a:ea typeface="Times New Roman"/>
              </a:rPr>
              <a:t>The system can be integrated with weather APIs, IoT sensors, and satellite data to provide real-time disaster alerts, early warnings, and live environmental monitoring. This will help citizens receive timely notifications and improve disaster preparedness.</a:t>
            </a:r>
            <a:endParaRPr b="0" lang="en-US" sz="1850" spc="-1" strike="noStrike">
              <a:solidFill>
                <a:srgbClr val="000000"/>
              </a:solidFill>
              <a:latin typeface="Arial"/>
            </a:endParaRPr>
          </a:p>
          <a:p>
            <a:pPr>
              <a:lnSpc>
                <a:spcPct val="162000"/>
              </a:lnSpc>
              <a:tabLst>
                <a:tab algn="l" pos="0"/>
              </a:tabLst>
            </a:pPr>
            <a:r>
              <a:rPr b="1" lang="en-US" sz="1850" spc="-1" strike="noStrike">
                <a:solidFill>
                  <a:srgbClr val="2b3541"/>
                </a:solidFill>
                <a:latin typeface="Times New Roman"/>
                <a:ea typeface="Times New Roman"/>
              </a:rPr>
              <a:t>2. AI Voice Assistant &amp; Multilingual Support</a:t>
            </a:r>
            <a:endParaRPr b="0" lang="en-US" sz="1850" spc="-1" strike="noStrike">
              <a:solidFill>
                <a:srgbClr val="000000"/>
              </a:solidFill>
              <a:latin typeface="Arial"/>
            </a:endParaRPr>
          </a:p>
          <a:p>
            <a:pPr>
              <a:lnSpc>
                <a:spcPct val="162000"/>
              </a:lnSpc>
              <a:tabLst>
                <a:tab algn="l" pos="0"/>
              </a:tabLst>
            </a:pPr>
            <a:r>
              <a:rPr b="0" lang="en-US" sz="1850" spc="-1" strike="noStrike">
                <a:solidFill>
                  <a:srgbClr val="2b3541"/>
                </a:solidFill>
                <a:latin typeface="Times New Roman"/>
                <a:ea typeface="Times New Roman"/>
              </a:rPr>
              <a:t>Enhancing ResQAI with an AI-powered voice assistant and multilingual support will enable users to report emergencies and receive disaster guidance in their preferred language. This will improve accessibility, especially during emergencies and in rural or linguistically diverse regions.</a:t>
            </a:r>
            <a:endParaRPr b="0" lang="en-US" sz="1850" spc="-1" strike="noStrike">
              <a:solidFill>
                <a:srgbClr val="000000"/>
              </a:solidFill>
              <a:latin typeface="Arial"/>
            </a:endParaRPr>
          </a:p>
        </p:txBody>
      </p:sp>
      <p:sp>
        <p:nvSpPr>
          <p:cNvPr id="107" name="Google Shape;174;p42"/>
          <p:cNvSpPr/>
          <p:nvPr/>
        </p:nvSpPr>
        <p:spPr>
          <a:xfrm>
            <a:off x="1218600" y="3360240"/>
            <a:ext cx="7468200" cy="7657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108" name="Google Shape;175;p42"/>
          <p:cNvSpPr/>
          <p:nvPr/>
        </p:nvSpPr>
        <p:spPr>
          <a:xfrm>
            <a:off x="1218600" y="4395600"/>
            <a:ext cx="7468200" cy="7657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109" name="Google Shape;176;p42"/>
          <p:cNvSpPr/>
          <p:nvPr/>
        </p:nvSpPr>
        <p:spPr>
          <a:xfrm>
            <a:off x="1218600" y="5430600"/>
            <a:ext cx="7468200" cy="38268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Google Shape;182;p43"/>
          <p:cNvSpPr/>
          <p:nvPr/>
        </p:nvSpPr>
        <p:spPr>
          <a:xfrm>
            <a:off x="327960" y="207360"/>
            <a:ext cx="6095520" cy="6703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000000"/>
                </a:solidFill>
                <a:latin typeface="Arial"/>
                <a:ea typeface="Arial"/>
              </a:rPr>
              <a:t>Certificates Earned:</a:t>
            </a:r>
            <a:endParaRPr b="0" lang="en-US" sz="2400" spc="-1" strike="noStrike">
              <a:solidFill>
                <a:srgbClr val="000000"/>
              </a:solidFill>
              <a:latin typeface="Arial"/>
            </a:endParaRPr>
          </a:p>
          <a:p>
            <a:pPr algn="ctr">
              <a:lnSpc>
                <a:spcPct val="100000"/>
              </a:lnSpc>
              <a:tabLst>
                <a:tab algn="l" pos="0"/>
              </a:tabLst>
            </a:pPr>
            <a:endParaRPr b="0" lang="en-US" sz="1400" spc="-1" strike="noStrike">
              <a:solidFill>
                <a:srgbClr val="000000"/>
              </a:solidFill>
              <a:latin typeface="Arial"/>
            </a:endParaRPr>
          </a:p>
        </p:txBody>
      </p:sp>
      <p:sp>
        <p:nvSpPr>
          <p:cNvPr id="111" name="Google Shape;183;p43"/>
          <p:cNvSpPr/>
          <p:nvPr/>
        </p:nvSpPr>
        <p:spPr>
          <a:xfrm>
            <a:off x="551880" y="690120"/>
            <a:ext cx="6389640" cy="51804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800" spc="-1" strike="noStrike">
                <a:solidFill>
                  <a:srgbClr val="000000"/>
                </a:solidFill>
                <a:latin typeface="Arial"/>
                <a:ea typeface="Arial"/>
              </a:rPr>
              <a:t>Please  add your credly certificate </a:t>
            </a:r>
            <a:endParaRPr b="0" lang="en-US" sz="2800" spc="-1" strike="noStrike">
              <a:solidFill>
                <a:srgbClr val="000000"/>
              </a:solidFill>
              <a:latin typeface="Arial"/>
            </a:endParaRPr>
          </a:p>
        </p:txBody>
      </p:sp>
      <p:pic>
        <p:nvPicPr>
          <p:cNvPr id="112" name="" descr=""/>
          <p:cNvPicPr/>
          <p:nvPr/>
        </p:nvPicPr>
        <p:blipFill>
          <a:blip r:embed="rId1"/>
          <a:stretch/>
        </p:blipFill>
        <p:spPr>
          <a:xfrm>
            <a:off x="2210040" y="1143000"/>
            <a:ext cx="7619760" cy="591480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Google Shape;189;p44"/>
          <p:cNvSpPr/>
          <p:nvPr/>
        </p:nvSpPr>
        <p:spPr>
          <a:xfrm>
            <a:off x="176760" y="226440"/>
            <a:ext cx="6095520" cy="67032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400" spc="-1" strike="noStrike">
                <a:solidFill>
                  <a:srgbClr val="000000"/>
                </a:solidFill>
                <a:latin typeface="Arial"/>
                <a:ea typeface="Arial"/>
              </a:rPr>
              <a:t>Certificates Earned:</a:t>
            </a:r>
            <a:r>
              <a:rPr b="0" lang="en-US" sz="2400" spc="-1" strike="noStrike">
                <a:solidFill>
                  <a:srgbClr val="000000"/>
                </a:solidFill>
                <a:latin typeface="Arial"/>
                <a:ea typeface="Arial"/>
              </a:rPr>
              <a:t>​</a:t>
            </a:r>
            <a:endParaRPr b="0" lang="en-US" sz="2400" spc="-1" strike="noStrike">
              <a:solidFill>
                <a:srgbClr val="000000"/>
              </a:solidFill>
              <a:latin typeface="Arial"/>
            </a:endParaRPr>
          </a:p>
          <a:p>
            <a:pPr algn="ctr">
              <a:lnSpc>
                <a:spcPct val="100000"/>
              </a:lnSpc>
              <a:tabLst>
                <a:tab algn="l" pos="0"/>
              </a:tabLst>
            </a:pPr>
            <a:endParaRPr b="0" lang="en-US" sz="1400" spc="-1" strike="noStrike">
              <a:solidFill>
                <a:srgbClr val="000000"/>
              </a:solidFill>
              <a:latin typeface="Arial"/>
            </a:endParaRPr>
          </a:p>
        </p:txBody>
      </p:sp>
      <p:sp>
        <p:nvSpPr>
          <p:cNvPr id="114" name="Google Shape;190;p44"/>
          <p:cNvSpPr/>
          <p:nvPr/>
        </p:nvSpPr>
        <p:spPr>
          <a:xfrm>
            <a:off x="496800" y="800640"/>
            <a:ext cx="5437440" cy="3960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1" lang="en-US" sz="2000" spc="-1" strike="noStrike">
                <a:solidFill>
                  <a:srgbClr val="000000"/>
                </a:solidFill>
                <a:latin typeface="Arial"/>
                <a:ea typeface="Arial"/>
              </a:rPr>
              <a:t>Add your IBM BOB Certificate</a:t>
            </a:r>
            <a:endParaRPr b="0" lang="en-US" sz="2000" spc="-1" strike="noStrike">
              <a:solidFill>
                <a:srgbClr val="000000"/>
              </a:solidFill>
              <a:latin typeface="Arial"/>
            </a:endParaRPr>
          </a:p>
        </p:txBody>
      </p:sp>
      <p:pic>
        <p:nvPicPr>
          <p:cNvPr id="115" name="" descr=""/>
          <p:cNvPicPr/>
          <p:nvPr/>
        </p:nvPicPr>
        <p:blipFill>
          <a:blip r:embed="rId1"/>
          <a:stretch/>
        </p:blipFill>
        <p:spPr>
          <a:xfrm>
            <a:off x="2210040" y="1371600"/>
            <a:ext cx="8076960" cy="480960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6" name="Google Shape;195;p20" descr=""/>
          <p:cNvPicPr/>
          <p:nvPr/>
        </p:nvPicPr>
        <p:blipFill>
          <a:blip r:embed="rId1"/>
          <a:stretch/>
        </p:blipFill>
        <p:spPr>
          <a:xfrm>
            <a:off x="0" y="2190240"/>
            <a:ext cx="12191760" cy="24771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74</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dc:description/>
  <dc:language>en-US</dc:language>
  <cp:lastModifiedBy/>
  <dcterms:modified xsi:type="dcterms:W3CDTF">2026-07-13T00:10:10Z</dcterms:modified>
  <cp:revision>1</cp:revision>
  <dc:subject/>
  <dc:title/>
</cp:coreProperties>
</file>